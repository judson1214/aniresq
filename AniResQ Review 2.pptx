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293"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450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(25 seconds): AniResQ is a community-driven web platform intended to connect citizens, volunteers, shelters and veterinarians across the rescue-to-adoption lifecycle. Introduce the four team members exactly as shown. This is Review-I: emphasize the identified problem, surveyed work, proposed method and reported project progress.</a:t>
            </a:r>
          </a:p>
          <a:p>
            <a:r>
              <a:t>Rubric mapping: problem statement 10 marks (slides 3–4); literature survey 10 marks (slides 5–6); proposed methodology 20 marks (slides 7–12); certification progress 10 marks (slide 13).</a:t>
            </a:r>
          </a:p>
          <a:p>
            <a:endParaRPr/>
          </a:p>
          <a:p>
            <a:r>
              <a:t>The college banner is reused from the supplied university-style reference. The guide field is intentionally blank because no AniResQ guide name was supplied.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A citizen creates an emergency report; a shelter reviews it; a volunteer carries out the rescue; a veterinarian records treatment. When an animal becomes suitable for adoption, the shelter publishes its profile. All roles use the same case context.</a:t>
            </a:r>
          </a:p>
          <a:p>
            <a:r>
              <a:t>Viva prompt: Why four user roles? Their responsibilities differ. Separating roles supports clear assignment and least-privilege access. The diagram describes the proposed ecosystem, not measured adoption or rescue outcomes.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scope: These are the project team’s stated challenges in fragmented local rescue coordination, not a claim that no animal rescue platforms exist worldwide. Validate them through stakeholder interviews and case observations before making population-wide claims.</a:t>
            </a:r>
          </a:p>
          <a:p>
            <a:r>
              <a:t>Viva prompt: What is the central problem? Loss of continuity from a citizen report to assignment, treatment and adoption. AniResQ proposes a shared record with explicit responsibility and status. Do not claim a measured response-time improvement before collecting a baseline.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social groups and calls can be valuable for outreach, but they do not inherently create the structured workflow required by this project. “NGOs” refers to independent operations with limited shared coordination, not a criticism of their work.</a:t>
            </a:r>
          </a:p>
          <a:p>
            <a:r>
              <a:t>Viva prompt: Why build a web application if WhatsApp is widely used? The application can maintain state, ownership, role permissions and an adoption record that remain difficult to enforce consistently in informal group communication.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evidence without overclaiming novelty.</a:t>
            </a:r>
          </a:p>
          <a:p>
            <a:r>
              <a:t>[1] Bradley, J. and Rajendran, S. (2021). Increasing adoption rates at animal shelters. BMC Veterinary Research, 17, 70. https://doi.org/10.1186/s12917-020-02728-2 . Compares logistic regression, neural networks, gradient boosting and random forests for length-of-stay prediction; proposes a goal-programming relocation stage. Authors identify limited data and missing behavioral variables.</a:t>
            </a:r>
          </a:p>
          <a:p>
            <a:r>
              <a:t>[2] Theodore, W.; Avrialdo, A.; Naufal, F.; Ferdianto; Witarsjah (2023). Animal Ranger Website Design: Animal Adoption Platform. SEEIJ 7(2), 56–68. https://doi.org/10.21512/seeij.v7i2.10497 . The PDF lists this author order; journal metadata lists Ferdianto first. The design already combines rescue, adoption, location-based reports and user-profile verification. React, Flask, MongoDB and Cloudinary are described. Tracking is named as future work.</a:t>
            </a:r>
          </a:p>
          <a:p>
            <a:r>
              <a:t>[3] Santos, M. C.; Santos, L. L. S.; Santos, V. H. B.; Brandão, G. S.; Durão, F. A. (2024). Content-based animal-adoption recommendations using weighted cosine. Texto Livre 17. https://doi.org/10.1590/1983-3652.2024.42708 . The method weights adopter preferences and reports improved recommendation precision. Absence of rescue dispatch is a scope comparison by this team, not a limitation quoted from the authors.</a:t>
            </a:r>
          </a:p>
          <a:p>
            <a:r>
              <a:t>[4] Haste, I., et al. (2025). Efficient Framework for Pet Adoption and Recommendation System. IEEE SCEECS, pp. 1–4. https://doi.org/10.1109/SCEECS64059.2025.10941208 . The IEEE publisher abstract describes breed/age and other search filters, comparison tools, direct messaging, and guidance for new pet owners. Advantages shown are the intended capabilities, not measured outcomes. Rescue dispatch is not discussed in the abstract; the limitation cell is an abstract-level scope comparison, not a claim about every feature of the full paper. The full text was not accessible; implementation stack and numerical evaluation are not verified. Source: https://ieeexplore.ieee.org/document/10941208/ .</a:t>
            </a:r>
          </a:p>
          <a:p>
            <a:r>
              <a:t>Viva prompt: Which study is closest to AniResQ? Animal Ranger; the proposed contribution must therefore focus on the detailed volunteer, case-status and veterinary-handoff workflow rather than claiming to be the first rescue/adoption ecosystem.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left column describes narrow-scope categories, not a feature audit of every paper. Animal Ranger already includes both rescue and adoption and uses location information; acknowledge this. AniResQ’s defensible proposed differentiation is explicit volunteer dispatch, state transitions and veterinary handoff under separate roles. Implementation and user evaluation are still needed to establish practical benefit.</a:t>
            </a:r>
          </a:p>
          <a:p>
            <a:r>
              <a:t>Source: Animal Ranger, DOI 10.21512/seeij.v7i2.10497. Literature synthesis is an inference from the reviewed scopes, not proof that no alternative system has the same features.</a:t>
            </a:r>
          </a:p>
          <a:p>
            <a:r>
              <a:t>Viva prompt: What is new? A specific coordinated workflow and locally usable implementation; avoid a “first-ever” claim.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objectives as intended improvements. Quantify them only after baseline data and a pilot. Potential measures: report-to-verification time, verification-to-assignment time, proportion of assigned cases completed, applications resulting in approved adoptions, and unauthorized API requests rejected.</a:t>
            </a:r>
          </a:p>
          <a:p>
            <a:r>
              <a:t>Viva prompt: How will success be measured? Compare agreed process metrics before and after a pilot and run functional/access-control checks. No benchmark values or improvement percentages have been supplied, so none are claimed.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steps 1–5 left to right, then 6–10 right to left following the arrows. Firestore holds the case; the shelter reviews it through the web application and FastAPI, not by editing the database directly. GPS means a location attached to a report; live vehicle tracking is not claimed. If location permission is denied or inaccurate, support user confirmation/manual coordinates. After treatment, only animals assessed as suitable should enter adoption.</a:t>
            </a:r>
          </a:p>
          <a:p>
            <a:r>
              <a:t>Each transition should record actor, status and timestamp. Shelter coordination remains a human decision in the current design; AI prioritization is future work.</a:t>
            </a:r>
          </a:p>
          <a:p>
            <a:r>
              <a:t>Viva prompt: Why store first and review later? Persistence creates a trackable case ID, allowing review, assignment and care updates to reference the same case.</a:t>
            </a:r>
          </a:p>
          <a:p>
            <a:r>
              <a:t>Browser location guidance: https://developer.mozilla.org/en-US/docs/Web/API/Geolocation_API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Proposed request flow: a user signs in through the React client; FastAPI validates credentials and issues an expiring signed JWT. Subsequent HTTPS requests present the token. The API verifies the signature, expiry and relevant role/ownership before processing a request. Successful reads and writes go through the server SDK to Firestore. JSON responses update the client. JWT is a token format, not the database or a complete authorization system.</a:t>
            </a:r>
          </a:p>
          <a:p>
            <a:r>
              <a:t>Security design: scope citizens to their own reports/applications; volunteers to assigned cases; shelters to case coordination; veterinarians to treatment updates. Derive authorization from trusted server-side role data. Store password hashes rather than plaintext; keep signing keys/service credentials on the server. For this server-access design, Firestore server libraries bypass Firestore Security Rules, so authorization must be enforced in FastAPI with appropriate service-account IAM. The browser has no direct database path in this diagram.</a:t>
            </a:r>
          </a:p>
          <a:p>
            <a:r>
              <a:t>Technology claims are design guidance, not proof that controls were audited.</a:t>
            </a:r>
          </a:p>
          <a:p>
            <a:r>
              <a:t>Sources: https://fastapi.tiangolo.com/tutorial/security/oauth2-jwt/ ; https://firebase.google.com/docs/firestore/security/rules-conditions .</a:t>
            </a:r>
          </a:p>
          <a:p>
            <a:r>
              <a:t>Viva prompt: Is JWT encrypted? A typical signed JWT is readable; do not put passwords or sensitive personal details in its payload.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flow shows the successful rescue path. Shelter verification checks report validity and available capacity. If information is incomplete, request clarification; if no volunteer accepts, return the case to the assignment queue. The workflow is conceptual and does not show deployment data.</a:t>
            </a:r>
          </a:p>
          <a:p>
            <a:r>
              <a:t>Rescue case closure records the outcome. Closing a rescue case is distinct from adopting an animal; adoption continues through the linked animal record when appropriate.</a:t>
            </a:r>
          </a:p>
          <a:p>
            <a:r>
              <a:t>Viva prompt: What if the first volunteer is unavailable? Keep the case pending and reassign it with a recorded owner/status change. Retain timestamps to avoid duplicate or abandoned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Eligibility precedes listing: the shelter confirms that the animal is available and suitable for adoption. Profiles should include relevant characteristics and health information. Citizens apply, the shelter assesses suitability, and approved applicants complete handover. The diagram shows the successful path; rejected or incomplete applications should remain distinguishable from approved ones, with only the minimum necessary applicant information visible to authorized staff.</a:t>
            </a:r>
          </a:p>
          <a:p>
            <a:r>
              <a:t>Viva prompt: Does approval automatically mark the animal adopted? Prefer separate approved and completed/handover states; update availability only when adoption is finalized. Recommendations and AI matching are not claimed as current functionality.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purpose of each technology rather than listing names. React builds UI components. Vite provides the development/build tooling. Tailwind handles styling. FastAPI exposes Python APIs and can validate structured input. Firestore is the persistent database. JWTs represent authenticated sessions but authorization is enforced by the server. Git is the version-control system; GitHub hosts the repository and collaboration workflow.</a:t>
            </a:r>
          </a:p>
          <a:p>
            <a:r>
              <a:t>Viva prompt: Why not let the browser write all data directly? This proposed architecture centralizes workflow and permission decisions in the API. This trade-off should be weighed against the extra backend dependency. No paid product tier or production scalability guarantee is asserted.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80% value and seven checked milestones are exactly the team-reported progress provided in the brief. They have not been independently verified against source code, tests or a demo. Do not interpret the seven checks as a mathematical derivation of 80%. Testing may refer to tests completed for the current iteration; final end-to-end validation and review evidence can still remain. Confirm this interpretation with the actual project record before presenting.</a:t>
            </a:r>
          </a:p>
          <a:p>
            <a:r>
              <a:t>Certificates are placeholders, not claims that any course has been completed. Replace each with the actual learner name, course name, completion date, credential identifier and certificate image or URL. Avoid implying certification completion while evidence is absent.</a:t>
            </a:r>
          </a:p>
          <a:p>
            <a:r>
              <a:t>Viva prompt: What evidence supports progress? Demonstrate the working UI, authentication flow, database writes and a test log. For the certification rubric, present the actual provider certificates.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integrated workflow: rescue reporting, volunteer coordination, shelter management and adoption can share one case context. These are proposed/implemented capabilities reported by the team; improved welfare and response time still require evaluation.</a:t>
            </a:r>
          </a:p>
          <a:p>
            <a:r>
              <a:t>Future work is explicitly separate from current scope: mobile application, AI prioritization with human oversight, appointment booking, real-time notifications and an analytics dashboard. Prioritize reliable case workflows and validation before adding advanced features.</a:t>
            </a:r>
          </a:p>
          <a:p>
            <a:r>
              <a:t>Possible viva question: What is the next practical step? Complete an end-to-end demonstration, validate permissions and state transitions, and collect pilot feedback from shelters and volunteers.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914400" y="1746504"/>
            <a:ext cx="10332720" cy="640080"/>
          </a:xfrm>
          <a:prstGeom prst="rect">
            <a:avLst/>
          </a:prstGeom>
          <a:noFill/>
          <a:effectLst/>
        </p:spPr>
        <p:txBody>
          <a:bodyPr wrap="square" lIns="0" tIns="0" rIns="0" bIns="0" anchor="t">
            <a:spAutoFit/>
          </a:bodyPr>
          <a:lstStyle/>
          <a:p>
            <a:pPr algn="ctr">
              <a:lnSpc>
                <a:spcPct val="112000"/>
              </a:lnSpc>
              <a:spcBef>
                <a:spcPts val="0"/>
              </a:spcBef>
              <a:spcAft>
                <a:spcPts val="0"/>
              </a:spcAft>
              <a:defRPr sz="4400" b="1">
                <a:solidFill>
                  <a:srgbClr val="000000"/>
                </a:solidFill>
                <a:latin typeface="Times New Roman"/>
              </a:defRPr>
            </a:pPr>
            <a:r>
              <a:rPr dirty="0" err="1"/>
              <a:t>AniResQ</a:t>
            </a:r>
            <a:endParaRPr dirty="0"/>
          </a:p>
        </p:txBody>
      </p:sp>
      <p:sp>
        <p:nvSpPr>
          <p:cNvPr id="4" name="TextBox 3"/>
          <p:cNvSpPr txBox="1"/>
          <p:nvPr/>
        </p:nvSpPr>
        <p:spPr>
          <a:xfrm>
            <a:off x="914400" y="2523744"/>
            <a:ext cx="10332720" cy="1051560"/>
          </a:xfrm>
          <a:prstGeom prst="rect">
            <a:avLst/>
          </a:prstGeom>
          <a:noFill/>
          <a:effectLst/>
        </p:spPr>
        <p:txBody>
          <a:bodyPr wrap="square" lIns="0" tIns="0" rIns="0" bIns="0" anchor="t">
            <a:spAutoFit/>
          </a:bodyPr>
          <a:lstStyle/>
          <a:p>
            <a:pPr algn="ctr">
              <a:lnSpc>
                <a:spcPct val="112000"/>
              </a:lnSpc>
              <a:spcBef>
                <a:spcPts val="0"/>
              </a:spcBef>
              <a:spcAft>
                <a:spcPts val="0"/>
              </a:spcAft>
              <a:defRPr sz="3000" b="1">
                <a:solidFill>
                  <a:srgbClr val="000000"/>
                </a:solidFill>
                <a:latin typeface="Times New Roman"/>
              </a:defRPr>
            </a:pPr>
            <a:r>
              <a:rPr dirty="0"/>
              <a:t>A Community-Driven Animal Rescue</a:t>
            </a:r>
          </a:p>
          <a:p>
            <a:pPr algn="ctr">
              <a:lnSpc>
                <a:spcPct val="112000"/>
              </a:lnSpc>
              <a:spcBef>
                <a:spcPts val="0"/>
              </a:spcBef>
              <a:spcAft>
                <a:spcPts val="0"/>
              </a:spcAft>
              <a:defRPr sz="3000" b="1">
                <a:solidFill>
                  <a:srgbClr val="000000"/>
                </a:solidFill>
                <a:latin typeface="Times New Roman"/>
              </a:defRPr>
            </a:pPr>
            <a:r>
              <a:rPr dirty="0"/>
              <a:t>&amp; Adoption Network</a:t>
            </a:r>
          </a:p>
        </p:txBody>
      </p:sp>
      <p:sp>
        <p:nvSpPr>
          <p:cNvPr id="5" name="TextBox 4"/>
          <p:cNvSpPr txBox="1"/>
          <p:nvPr/>
        </p:nvSpPr>
        <p:spPr>
          <a:xfrm>
            <a:off x="914400" y="3703320"/>
            <a:ext cx="10332720" cy="350609"/>
          </a:xfrm>
          <a:prstGeom prst="rect">
            <a:avLst/>
          </a:prstGeom>
          <a:noFill/>
          <a:effectLst/>
        </p:spPr>
        <p:txBody>
          <a:bodyPr wrap="square" lIns="0" tIns="0" rIns="0" bIns="0" anchor="t">
            <a:spAutoFit/>
          </a:bodyPr>
          <a:lstStyle/>
          <a:p>
            <a:pPr algn="ctr">
              <a:lnSpc>
                <a:spcPct val="112000"/>
              </a:lnSpc>
              <a:spcBef>
                <a:spcPts val="0"/>
              </a:spcBef>
              <a:spcAft>
                <a:spcPts val="0"/>
              </a:spcAft>
              <a:defRPr sz="2200" b="0">
                <a:solidFill>
                  <a:srgbClr val="000000"/>
                </a:solidFill>
                <a:latin typeface="Times New Roman"/>
              </a:defRPr>
            </a:pPr>
            <a:r>
              <a:rPr dirty="0"/>
              <a:t>REVIEW–I</a:t>
            </a:r>
            <a:r>
              <a:rPr lang="en-US" dirty="0"/>
              <a:t>I</a:t>
            </a:r>
            <a:endParaRPr dirty="0"/>
          </a:p>
        </p:txBody>
      </p:sp>
      <p:sp>
        <p:nvSpPr>
          <p:cNvPr id="6" name="TextBox 5"/>
          <p:cNvSpPr txBox="1"/>
          <p:nvPr/>
        </p:nvSpPr>
        <p:spPr>
          <a:xfrm>
            <a:off x="914400" y="4270248"/>
            <a:ext cx="10332720" cy="292608"/>
          </a:xfrm>
          <a:prstGeom prst="rect">
            <a:avLst/>
          </a:prstGeom>
          <a:noFill/>
          <a:effectLst/>
        </p:spPr>
        <p:txBody>
          <a:bodyPr wrap="square" lIns="0" tIns="0" rIns="0" bIns="0" anchor="t">
            <a:spAutoFit/>
          </a:bodyPr>
          <a:lstStyle/>
          <a:p>
            <a:pPr algn="ctr">
              <a:lnSpc>
                <a:spcPct val="112000"/>
              </a:lnSpc>
              <a:spcBef>
                <a:spcPts val="0"/>
              </a:spcBef>
              <a:spcAft>
                <a:spcPts val="0"/>
              </a:spcAft>
              <a:defRPr sz="1800" b="1">
                <a:solidFill>
                  <a:srgbClr val="000000"/>
                </a:solidFill>
                <a:latin typeface="Times New Roman"/>
              </a:defRPr>
            </a:pPr>
            <a:r>
              <a:t>TEAM MEMBERS</a:t>
            </a:r>
          </a:p>
        </p:txBody>
      </p:sp>
      <p:sp>
        <p:nvSpPr>
          <p:cNvPr id="7" name="TextBox 6"/>
          <p:cNvSpPr txBox="1"/>
          <p:nvPr/>
        </p:nvSpPr>
        <p:spPr>
          <a:xfrm>
            <a:off x="2478024" y="4736592"/>
            <a:ext cx="3611880" cy="334579"/>
          </a:xfrm>
          <a:prstGeom prst="rect">
            <a:avLst/>
          </a:prstGeom>
          <a:noFill/>
          <a:effectLst/>
        </p:spPr>
        <p:txBody>
          <a:bodyPr wrap="square" lIns="0" tIns="0" rIns="0" bIns="0" anchor="t">
            <a:spAutoFit/>
          </a:bodyPr>
          <a:lstStyle/>
          <a:p>
            <a:pPr algn="ctr">
              <a:lnSpc>
                <a:spcPct val="112000"/>
              </a:lnSpc>
              <a:spcBef>
                <a:spcPts val="0"/>
              </a:spcBef>
              <a:spcAft>
                <a:spcPts val="0"/>
              </a:spcAft>
              <a:defRPr sz="2100" b="0">
                <a:solidFill>
                  <a:srgbClr val="000000"/>
                </a:solidFill>
                <a:latin typeface="Times New Roman"/>
              </a:defRPr>
            </a:pPr>
            <a:r>
              <a:rPr dirty="0"/>
              <a:t>Vigneshwar M</a:t>
            </a:r>
            <a:r>
              <a:rPr lang="en-US" dirty="0"/>
              <a:t> (99240040338)</a:t>
            </a:r>
            <a:endParaRPr dirty="0"/>
          </a:p>
        </p:txBody>
      </p:sp>
      <p:sp>
        <p:nvSpPr>
          <p:cNvPr id="8" name="TextBox 7"/>
          <p:cNvSpPr txBox="1"/>
          <p:nvPr/>
        </p:nvSpPr>
        <p:spPr>
          <a:xfrm>
            <a:off x="6492240" y="4736592"/>
            <a:ext cx="4264250" cy="334579"/>
          </a:xfrm>
          <a:prstGeom prst="rect">
            <a:avLst/>
          </a:prstGeom>
          <a:noFill/>
          <a:effectLst/>
        </p:spPr>
        <p:txBody>
          <a:bodyPr wrap="square" lIns="0" tIns="0" rIns="0" bIns="0" anchor="t">
            <a:spAutoFit/>
          </a:bodyPr>
          <a:lstStyle/>
          <a:p>
            <a:pPr algn="ctr">
              <a:lnSpc>
                <a:spcPct val="112000"/>
              </a:lnSpc>
              <a:spcBef>
                <a:spcPts val="0"/>
              </a:spcBef>
              <a:spcAft>
                <a:spcPts val="0"/>
              </a:spcAft>
              <a:defRPr sz="2100" b="0">
                <a:solidFill>
                  <a:srgbClr val="000000"/>
                </a:solidFill>
                <a:latin typeface="Times New Roman"/>
              </a:defRPr>
            </a:pPr>
            <a:r>
              <a:rPr dirty="0"/>
              <a:t>Judson Pushparaj C</a:t>
            </a:r>
            <a:r>
              <a:rPr lang="en-US" dirty="0"/>
              <a:t> (99240040056)</a:t>
            </a:r>
            <a:endParaRPr dirty="0"/>
          </a:p>
        </p:txBody>
      </p:sp>
      <p:sp>
        <p:nvSpPr>
          <p:cNvPr id="9" name="TextBox 8"/>
          <p:cNvSpPr txBox="1"/>
          <p:nvPr/>
        </p:nvSpPr>
        <p:spPr>
          <a:xfrm>
            <a:off x="2478024" y="5138928"/>
            <a:ext cx="3611880" cy="334579"/>
          </a:xfrm>
          <a:prstGeom prst="rect">
            <a:avLst/>
          </a:prstGeom>
          <a:noFill/>
          <a:effectLst/>
        </p:spPr>
        <p:txBody>
          <a:bodyPr wrap="square" lIns="0" tIns="0" rIns="0" bIns="0" anchor="t">
            <a:spAutoFit/>
          </a:bodyPr>
          <a:lstStyle/>
          <a:p>
            <a:pPr algn="ctr">
              <a:lnSpc>
                <a:spcPct val="112000"/>
              </a:lnSpc>
              <a:spcBef>
                <a:spcPts val="0"/>
              </a:spcBef>
              <a:spcAft>
                <a:spcPts val="0"/>
              </a:spcAft>
              <a:defRPr sz="2100" b="0">
                <a:solidFill>
                  <a:srgbClr val="000000"/>
                </a:solidFill>
                <a:latin typeface="Times New Roman"/>
              </a:defRPr>
            </a:pPr>
            <a:r>
              <a:rPr dirty="0"/>
              <a:t>Venu Madhav S</a:t>
            </a:r>
            <a:r>
              <a:rPr lang="en-US" dirty="0"/>
              <a:t> (99240041284)</a:t>
            </a:r>
            <a:endParaRPr dirty="0"/>
          </a:p>
        </p:txBody>
      </p:sp>
      <p:sp>
        <p:nvSpPr>
          <p:cNvPr id="10" name="TextBox 9"/>
          <p:cNvSpPr txBox="1"/>
          <p:nvPr/>
        </p:nvSpPr>
        <p:spPr>
          <a:xfrm>
            <a:off x="6492240" y="5138928"/>
            <a:ext cx="3611880" cy="334579"/>
          </a:xfrm>
          <a:prstGeom prst="rect">
            <a:avLst/>
          </a:prstGeom>
          <a:noFill/>
          <a:effectLst/>
        </p:spPr>
        <p:txBody>
          <a:bodyPr wrap="square" lIns="0" tIns="0" rIns="0" bIns="0" anchor="t">
            <a:spAutoFit/>
          </a:bodyPr>
          <a:lstStyle/>
          <a:p>
            <a:pPr algn="ctr">
              <a:lnSpc>
                <a:spcPct val="112000"/>
              </a:lnSpc>
              <a:spcBef>
                <a:spcPts val="0"/>
              </a:spcBef>
              <a:spcAft>
                <a:spcPts val="0"/>
              </a:spcAft>
              <a:defRPr sz="2100" b="0">
                <a:solidFill>
                  <a:srgbClr val="000000"/>
                </a:solidFill>
                <a:latin typeface="Times New Roman"/>
              </a:defRPr>
            </a:pPr>
            <a:r>
              <a:rPr dirty="0" err="1"/>
              <a:t>Karthikraja</a:t>
            </a:r>
            <a:r>
              <a:rPr dirty="0"/>
              <a:t> K</a:t>
            </a:r>
            <a:r>
              <a:rPr lang="en-US" dirty="0"/>
              <a:t> (99240040071)</a:t>
            </a:r>
            <a:endParaRPr dirty="0"/>
          </a:p>
        </p:txBody>
      </p:sp>
      <p:sp>
        <p:nvSpPr>
          <p:cNvPr id="11" name="TextBox 10"/>
          <p:cNvSpPr txBox="1"/>
          <p:nvPr/>
        </p:nvSpPr>
        <p:spPr>
          <a:xfrm>
            <a:off x="2148840" y="5852160"/>
            <a:ext cx="7909560" cy="302775"/>
          </a:xfrm>
          <a:prstGeom prst="rect">
            <a:avLst/>
          </a:prstGeom>
          <a:noFill/>
          <a:effectLst/>
        </p:spPr>
        <p:txBody>
          <a:bodyPr wrap="square" lIns="0" tIns="0" rIns="0" bIns="0" anchor="t">
            <a:spAutoFit/>
          </a:bodyPr>
          <a:lstStyle/>
          <a:p>
            <a:pPr algn="ctr">
              <a:lnSpc>
                <a:spcPct val="112000"/>
              </a:lnSpc>
              <a:spcBef>
                <a:spcPts val="0"/>
              </a:spcBef>
              <a:spcAft>
                <a:spcPts val="0"/>
              </a:spcAft>
              <a:defRPr sz="1900" b="0">
                <a:solidFill>
                  <a:srgbClr val="000000"/>
                </a:solidFill>
                <a:latin typeface="Times New Roman"/>
              </a:defRPr>
            </a:pPr>
            <a:r>
              <a:rPr dirty="0"/>
              <a:t>Project Guide:</a:t>
            </a:r>
            <a:r>
              <a:rPr lang="en-US" dirty="0"/>
              <a:t> </a:t>
            </a:r>
            <a:r>
              <a:rPr lang="en-US" dirty="0" err="1"/>
              <a:t>Mrs.Sujitha</a:t>
            </a:r>
            <a:endParaRPr dirty="0"/>
          </a:p>
        </p:txBody>
      </p:sp>
      <p:pic>
        <p:nvPicPr>
          <p:cNvPr id="16" name="Picture 15">
            <a:extLst>
              <a:ext uri="{FF2B5EF4-FFF2-40B4-BE49-F238E27FC236}">
                <a16:creationId xmlns:a16="http://schemas.microsoft.com/office/drawing/2014/main" id="{39183F23-50E4-8B23-2DBA-805905BD22B5}"/>
              </a:ext>
            </a:extLst>
          </p:cNvPr>
          <p:cNvPicPr>
            <a:picLocks noChangeAspect="1"/>
          </p:cNvPicPr>
          <p:nvPr/>
        </p:nvPicPr>
        <p:blipFill>
          <a:blip r:embed="rId3"/>
          <a:stretch>
            <a:fillRect/>
          </a:stretch>
        </p:blipFill>
        <p:spPr>
          <a:xfrm>
            <a:off x="2133108" y="0"/>
            <a:ext cx="7895304" cy="18319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Introduction:</a:t>
            </a:r>
          </a:p>
        </p:txBody>
      </p:sp>
      <p:sp>
        <p:nvSpPr>
          <p:cNvPr id="6" name="TextBox 5"/>
          <p:cNvSpPr txBox="1"/>
          <p:nvPr/>
        </p:nvSpPr>
        <p:spPr>
          <a:xfrm>
            <a:off x="841248" y="1371600"/>
            <a:ext cx="10515600" cy="969264"/>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AniResQ is a community-driven digital ecosystem that connects citizens, volunteers, animal shelters and veterinarians to coordinate animal rescue, treatment and adoption.</a:t>
            </a:r>
          </a:p>
        </p:txBody>
      </p:sp>
      <p:sp>
        <p:nvSpPr>
          <p:cNvPr id="7" name="Rounded Rectangle 6"/>
          <p:cNvSpPr/>
          <p:nvPr/>
        </p:nvSpPr>
        <p:spPr>
          <a:xfrm>
            <a:off x="795528" y="2743200"/>
            <a:ext cx="2404872" cy="11155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905256" y="2953512"/>
            <a:ext cx="2185415"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200" b="1">
                <a:solidFill>
                  <a:srgbClr val="000000"/>
                </a:solidFill>
                <a:latin typeface="Times New Roman"/>
              </a:defRPr>
            </a:pPr>
            <a:r>
              <a:t>Citizens</a:t>
            </a:r>
          </a:p>
        </p:txBody>
      </p:sp>
      <p:sp>
        <p:nvSpPr>
          <p:cNvPr id="9" name="TextBox 8"/>
          <p:cNvSpPr txBox="1"/>
          <p:nvPr/>
        </p:nvSpPr>
        <p:spPr>
          <a:xfrm>
            <a:off x="905256" y="3401568"/>
            <a:ext cx="2185415"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Report and adopt</a:t>
            </a:r>
          </a:p>
        </p:txBody>
      </p:sp>
      <p:cxnSp>
        <p:nvCxnSpPr>
          <p:cNvPr id="10" name="Connector 9"/>
          <p:cNvCxnSpPr/>
          <p:nvPr/>
        </p:nvCxnSpPr>
        <p:spPr>
          <a:xfrm>
            <a:off x="1997964" y="3867912"/>
            <a:ext cx="0" cy="347472"/>
          </a:xfrm>
          <a:prstGeom prst="line">
            <a:avLst/>
          </a:prstGeom>
          <a:ln w="15875">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3611880" y="2743200"/>
            <a:ext cx="2404872" cy="11155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3721608" y="2953512"/>
            <a:ext cx="2185415"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200" b="1">
                <a:solidFill>
                  <a:srgbClr val="000000"/>
                </a:solidFill>
                <a:latin typeface="Times New Roman"/>
              </a:defRPr>
            </a:pPr>
            <a:r>
              <a:t>Volunteers</a:t>
            </a:r>
          </a:p>
        </p:txBody>
      </p:sp>
      <p:sp>
        <p:nvSpPr>
          <p:cNvPr id="13" name="TextBox 12"/>
          <p:cNvSpPr txBox="1"/>
          <p:nvPr/>
        </p:nvSpPr>
        <p:spPr>
          <a:xfrm>
            <a:off x="3721608" y="3401568"/>
            <a:ext cx="2185415"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Respond and rescue</a:t>
            </a:r>
          </a:p>
        </p:txBody>
      </p:sp>
      <p:cxnSp>
        <p:nvCxnSpPr>
          <p:cNvPr id="14" name="Connector 13"/>
          <p:cNvCxnSpPr/>
          <p:nvPr/>
        </p:nvCxnSpPr>
        <p:spPr>
          <a:xfrm>
            <a:off x="4814316" y="3867912"/>
            <a:ext cx="0" cy="347472"/>
          </a:xfrm>
          <a:prstGeom prst="line">
            <a:avLst/>
          </a:prstGeom>
          <a:ln w="15875">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6428232" y="2743200"/>
            <a:ext cx="2404872" cy="11155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537960" y="2953512"/>
            <a:ext cx="2185415"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200" b="1">
                <a:solidFill>
                  <a:srgbClr val="000000"/>
                </a:solidFill>
                <a:latin typeface="Times New Roman"/>
              </a:defRPr>
            </a:pPr>
            <a:r>
              <a:rPr dirty="0"/>
              <a:t>Animal Shelters</a:t>
            </a:r>
          </a:p>
        </p:txBody>
      </p:sp>
      <p:sp>
        <p:nvSpPr>
          <p:cNvPr id="17" name="TextBox 16"/>
          <p:cNvSpPr txBox="1"/>
          <p:nvPr/>
        </p:nvSpPr>
        <p:spPr>
          <a:xfrm>
            <a:off x="6537960" y="3401568"/>
            <a:ext cx="2185415"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Review and coordinate</a:t>
            </a:r>
          </a:p>
        </p:txBody>
      </p:sp>
      <p:cxnSp>
        <p:nvCxnSpPr>
          <p:cNvPr id="18" name="Connector 17"/>
          <p:cNvCxnSpPr/>
          <p:nvPr/>
        </p:nvCxnSpPr>
        <p:spPr>
          <a:xfrm>
            <a:off x="7630668" y="3867912"/>
            <a:ext cx="0" cy="347472"/>
          </a:xfrm>
          <a:prstGeom prst="line">
            <a:avLst/>
          </a:prstGeom>
          <a:ln w="15875">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9244584" y="2743200"/>
            <a:ext cx="2404872" cy="11155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9354311" y="2953512"/>
            <a:ext cx="2185415"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200" b="1">
                <a:solidFill>
                  <a:srgbClr val="000000"/>
                </a:solidFill>
                <a:latin typeface="Times New Roman"/>
              </a:defRPr>
            </a:pPr>
            <a:r>
              <a:rPr dirty="0"/>
              <a:t>Veterinarians</a:t>
            </a:r>
          </a:p>
        </p:txBody>
      </p:sp>
      <p:sp>
        <p:nvSpPr>
          <p:cNvPr id="21" name="TextBox 20"/>
          <p:cNvSpPr txBox="1"/>
          <p:nvPr/>
        </p:nvSpPr>
        <p:spPr>
          <a:xfrm>
            <a:off x="9354311" y="3401568"/>
            <a:ext cx="2185415"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rPr dirty="0"/>
              <a:t>Treat and document</a:t>
            </a:r>
          </a:p>
        </p:txBody>
      </p:sp>
      <p:cxnSp>
        <p:nvCxnSpPr>
          <p:cNvPr id="22" name="Connector 21"/>
          <p:cNvCxnSpPr/>
          <p:nvPr/>
        </p:nvCxnSpPr>
        <p:spPr>
          <a:xfrm>
            <a:off x="10447019" y="3867912"/>
            <a:ext cx="0" cy="347472"/>
          </a:xfrm>
          <a:prstGeom prst="line">
            <a:avLst/>
          </a:prstGeom>
          <a:ln w="15875">
            <a:solidFill>
              <a:srgbClr val="376D8B"/>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997964" y="4215384"/>
            <a:ext cx="8449056" cy="0"/>
          </a:xfrm>
          <a:prstGeom prst="line">
            <a:avLst/>
          </a:prstGeom>
          <a:ln w="15875">
            <a:solidFill>
              <a:srgbClr val="376D8B"/>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6089904" y="4215384"/>
            <a:ext cx="0" cy="301752"/>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4416552" y="4562856"/>
            <a:ext cx="3346704" cy="630936"/>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26280" y="4654296"/>
            <a:ext cx="3127248" cy="448055"/>
          </a:xfrm>
          <a:prstGeom prst="rect">
            <a:avLst/>
          </a:prstGeom>
          <a:noFill/>
          <a:effectLst/>
        </p:spPr>
        <p:txBody>
          <a:bodyPr wrap="square" lIns="0" tIns="0" rIns="0" bIns="0" anchor="ctr">
            <a:spAutoFit/>
          </a:bodyPr>
          <a:lstStyle/>
          <a:p>
            <a:pPr algn="ctr">
              <a:lnSpc>
                <a:spcPct val="112000"/>
              </a:lnSpc>
              <a:spcBef>
                <a:spcPts val="0"/>
              </a:spcBef>
              <a:spcAft>
                <a:spcPts val="0"/>
              </a:spcAft>
              <a:defRPr sz="2300" b="0">
                <a:solidFill>
                  <a:srgbClr val="000000"/>
                </a:solidFill>
                <a:latin typeface="Times New Roman"/>
              </a:defRPr>
            </a:pPr>
            <a:r>
              <a:t>AniResQ Platform</a:t>
            </a:r>
          </a:p>
        </p:txBody>
      </p:sp>
      <p:sp>
        <p:nvSpPr>
          <p:cNvPr id="27" name="TextBox 26"/>
          <p:cNvSpPr txBox="1"/>
          <p:nvPr/>
        </p:nvSpPr>
        <p:spPr>
          <a:xfrm>
            <a:off x="877824" y="5486400"/>
            <a:ext cx="347472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1">
                <a:solidFill>
                  <a:srgbClr val="000000"/>
                </a:solidFill>
                <a:latin typeface="Times New Roman"/>
              </a:defRPr>
            </a:pPr>
            <a:r>
              <a:t>The platform enables:</a:t>
            </a:r>
          </a:p>
        </p:txBody>
      </p:sp>
      <p:sp>
        <p:nvSpPr>
          <p:cNvPr id="28" name="TextBox 27"/>
          <p:cNvSpPr txBox="1"/>
          <p:nvPr/>
        </p:nvSpPr>
        <p:spPr>
          <a:xfrm>
            <a:off x="886968" y="5916168"/>
            <a:ext cx="10588752" cy="329184"/>
          </a:xfrm>
          <a:prstGeom prst="rect">
            <a:avLst/>
          </a:prstGeom>
          <a:noFill/>
          <a:effectLst/>
        </p:spPr>
        <p:txBody>
          <a:bodyPr wrap="square" lIns="0" tIns="0" rIns="0" bIns="0" anchor="t">
            <a:spAutoFit/>
          </a:bodyPr>
          <a:lstStyle/>
          <a:p>
            <a:pPr algn="l">
              <a:lnSpc>
                <a:spcPct val="112000"/>
              </a:lnSpc>
              <a:spcBef>
                <a:spcPts val="0"/>
              </a:spcBef>
              <a:spcAft>
                <a:spcPts val="0"/>
              </a:spcAft>
              <a:defRPr sz="1900" b="0">
                <a:solidFill>
                  <a:srgbClr val="000000"/>
                </a:solidFill>
                <a:latin typeface="Times New Roman"/>
              </a:defRPr>
            </a:pPr>
            <a:r>
              <a:t>Emergency reporting • Volunteer coordination • Adoption • Shelter management</a:t>
            </a:r>
          </a:p>
        </p:txBody>
      </p:sp>
      <p:sp>
        <p:nvSpPr>
          <p:cNvPr id="4" name="Rounded Rectangle 18">
            <a:extLst>
              <a:ext uri="{FF2B5EF4-FFF2-40B4-BE49-F238E27FC236}">
                <a16:creationId xmlns:a16="http://schemas.microsoft.com/office/drawing/2014/main" id="{A059EC17-95B3-CA66-6418-40A98926B211}"/>
              </a:ext>
            </a:extLst>
          </p:cNvPr>
          <p:cNvSpPr/>
          <p:nvPr/>
        </p:nvSpPr>
        <p:spPr>
          <a:xfrm>
            <a:off x="9244829" y="4507991"/>
            <a:ext cx="2404872" cy="11155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62EA8E43-E666-4354-96BD-D16CA49758CD}"/>
              </a:ext>
            </a:extLst>
          </p:cNvPr>
          <p:cNvSpPr txBox="1"/>
          <p:nvPr/>
        </p:nvSpPr>
        <p:spPr>
          <a:xfrm>
            <a:off x="10062774" y="4753094"/>
            <a:ext cx="171081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NGO</a:t>
            </a:r>
            <a:endParaRPr lang="en-IN" sz="2000" b="1" dirty="0">
              <a:latin typeface="Times New Roman" panose="02020603050405020304" pitchFamily="18" charset="0"/>
              <a:cs typeface="Times New Roman" panose="02020603050405020304" pitchFamily="18" charset="0"/>
            </a:endParaRPr>
          </a:p>
        </p:txBody>
      </p:sp>
      <p:cxnSp>
        <p:nvCxnSpPr>
          <p:cNvPr id="30" name="Connector 21">
            <a:extLst>
              <a:ext uri="{FF2B5EF4-FFF2-40B4-BE49-F238E27FC236}">
                <a16:creationId xmlns:a16="http://schemas.microsoft.com/office/drawing/2014/main" id="{C99B8918-9C51-29DC-5494-1BF4F4DC51BA}"/>
              </a:ext>
            </a:extLst>
          </p:cNvPr>
          <p:cNvCxnSpPr>
            <a:cxnSpLocks/>
          </p:cNvCxnSpPr>
          <p:nvPr/>
        </p:nvCxnSpPr>
        <p:spPr>
          <a:xfrm>
            <a:off x="10447265" y="4194048"/>
            <a:ext cx="0" cy="313943"/>
          </a:xfrm>
          <a:prstGeom prst="line">
            <a:avLst/>
          </a:prstGeom>
          <a:ln w="15875">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2D305A4-6851-7932-D26F-A7EF5B35BC50}"/>
              </a:ext>
            </a:extLst>
          </p:cNvPr>
          <p:cNvSpPr txBox="1"/>
          <p:nvPr/>
        </p:nvSpPr>
        <p:spPr>
          <a:xfrm>
            <a:off x="9427465" y="5157214"/>
            <a:ext cx="2185415" cy="230832"/>
          </a:xfrm>
          <a:prstGeom prst="rect">
            <a:avLst/>
          </a:prstGeom>
          <a:noFill/>
          <a:effectLst/>
        </p:spPr>
        <p:txBody>
          <a:bodyPr wrap="square" lIns="0" tIns="0" rIns="0" bIns="0" anchor="t">
            <a:spAutoFit/>
          </a:bodyPr>
          <a:lstStyle/>
          <a:p>
            <a:pPr algn="ctr">
              <a:lnSpc>
                <a:spcPct val="100000"/>
              </a:lnSpc>
              <a:spcBef>
                <a:spcPts val="0"/>
              </a:spcBef>
              <a:spcAft>
                <a:spcPts val="0"/>
              </a:spcAft>
              <a:defRPr sz="1500" b="0">
                <a:solidFill>
                  <a:srgbClr val="353535"/>
                </a:solidFill>
                <a:latin typeface="Times New Roman"/>
              </a:defRPr>
            </a:pPr>
            <a:r>
              <a:rPr lang="en-IN" sz="1500" dirty="0">
                <a:solidFill>
                  <a:srgbClr val="353535"/>
                </a:solidFill>
                <a:latin typeface="Times New Roman"/>
              </a:rPr>
              <a:t>protect, rescue Animal</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Problem Statement:</a:t>
            </a:r>
          </a:p>
        </p:txBody>
      </p:sp>
      <p:sp>
        <p:nvSpPr>
          <p:cNvPr id="6" name="TextBox 5"/>
          <p:cNvSpPr txBox="1"/>
          <p:nvPr/>
        </p:nvSpPr>
        <p:spPr>
          <a:xfrm>
            <a:off x="841248" y="1371600"/>
            <a:ext cx="10515600" cy="1298448"/>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Animal rescue efforts often rely on scattered posts, group messages and phone calls. This makes it difficult to identify a responsible responder and follow a case from the initial report to treatment and adoption.</a:t>
            </a:r>
          </a:p>
        </p:txBody>
      </p:sp>
      <p:sp>
        <p:nvSpPr>
          <p:cNvPr id="7" name="TextBox 6"/>
          <p:cNvSpPr txBox="1"/>
          <p:nvPr/>
        </p:nvSpPr>
        <p:spPr>
          <a:xfrm>
            <a:off x="841248" y="2871216"/>
            <a:ext cx="10515600" cy="393192"/>
          </a:xfrm>
          <a:prstGeom prst="rect">
            <a:avLst/>
          </a:prstGeom>
          <a:noFill/>
          <a:effectLst/>
        </p:spPr>
        <p:txBody>
          <a:bodyPr wrap="square" lIns="0" tIns="0" rIns="0" bIns="0" anchor="t">
            <a:spAutoFit/>
          </a:bodyPr>
          <a:lstStyle/>
          <a:p>
            <a:pPr algn="l">
              <a:lnSpc>
                <a:spcPct val="112000"/>
              </a:lnSpc>
              <a:spcBef>
                <a:spcPts val="0"/>
              </a:spcBef>
              <a:spcAft>
                <a:spcPts val="0"/>
              </a:spcAft>
              <a:defRPr sz="2300" b="1">
                <a:solidFill>
                  <a:srgbClr val="000000"/>
                </a:solidFill>
                <a:latin typeface="Times New Roman"/>
              </a:defRPr>
            </a:pPr>
            <a:r>
              <a:t>Current challenges include:</a:t>
            </a:r>
          </a:p>
        </p:txBody>
      </p:sp>
      <p:sp>
        <p:nvSpPr>
          <p:cNvPr id="8" name="TextBox 7"/>
          <p:cNvSpPr txBox="1"/>
          <p:nvPr/>
        </p:nvSpPr>
        <p:spPr>
          <a:xfrm>
            <a:off x="877824" y="3493008"/>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9" name="TextBox 8"/>
          <p:cNvSpPr txBox="1"/>
          <p:nvPr/>
        </p:nvSpPr>
        <p:spPr>
          <a:xfrm>
            <a:off x="1152144" y="3493008"/>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No centralized rescue platform for local coordination</a:t>
            </a:r>
          </a:p>
        </p:txBody>
      </p:sp>
      <p:sp>
        <p:nvSpPr>
          <p:cNvPr id="10" name="TextBox 9"/>
          <p:cNvSpPr txBox="1"/>
          <p:nvPr/>
        </p:nvSpPr>
        <p:spPr>
          <a:xfrm>
            <a:off x="877824" y="3977639"/>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1" name="TextBox 10"/>
          <p:cNvSpPr txBox="1"/>
          <p:nvPr/>
        </p:nvSpPr>
        <p:spPr>
          <a:xfrm>
            <a:off x="1152144" y="3977639"/>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Delayed emergency response</a:t>
            </a:r>
          </a:p>
        </p:txBody>
      </p:sp>
      <p:sp>
        <p:nvSpPr>
          <p:cNvPr id="12" name="TextBox 11"/>
          <p:cNvSpPr txBox="1"/>
          <p:nvPr/>
        </p:nvSpPr>
        <p:spPr>
          <a:xfrm>
            <a:off x="877824" y="4462272"/>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3" name="TextBox 12"/>
          <p:cNvSpPr txBox="1"/>
          <p:nvPr/>
        </p:nvSpPr>
        <p:spPr>
          <a:xfrm>
            <a:off x="1152144" y="4462272"/>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Fragmented WhatsApp and Facebook communication</a:t>
            </a:r>
          </a:p>
        </p:txBody>
      </p:sp>
      <p:sp>
        <p:nvSpPr>
          <p:cNvPr id="14" name="TextBox 13"/>
          <p:cNvSpPr txBox="1"/>
          <p:nvPr/>
        </p:nvSpPr>
        <p:spPr>
          <a:xfrm>
            <a:off x="877824" y="4946904"/>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5" name="TextBox 14"/>
          <p:cNvSpPr txBox="1"/>
          <p:nvPr/>
        </p:nvSpPr>
        <p:spPr>
          <a:xfrm>
            <a:off x="1152144" y="4946904"/>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Lack of volunteer coordination</a:t>
            </a:r>
          </a:p>
        </p:txBody>
      </p:sp>
      <p:sp>
        <p:nvSpPr>
          <p:cNvPr id="16" name="TextBox 15"/>
          <p:cNvSpPr txBox="1"/>
          <p:nvPr/>
        </p:nvSpPr>
        <p:spPr>
          <a:xfrm>
            <a:off x="877824" y="5431536"/>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7" name="TextBox 16"/>
          <p:cNvSpPr txBox="1"/>
          <p:nvPr/>
        </p:nvSpPr>
        <p:spPr>
          <a:xfrm>
            <a:off x="1152144" y="5431536"/>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Poor visibility of animals available for adoption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Existing System and Limitations:</a:t>
            </a:r>
          </a:p>
        </p:txBody>
      </p:sp>
      <p:graphicFrame>
        <p:nvGraphicFramePr>
          <p:cNvPr id="6" name="Table 5"/>
          <p:cNvGraphicFramePr>
            <a:graphicFrameLocks noGrp="1"/>
          </p:cNvGraphicFramePr>
          <p:nvPr/>
        </p:nvGraphicFramePr>
        <p:xfrm>
          <a:off x="813816" y="1517904"/>
          <a:ext cx="10597896" cy="3904488"/>
        </p:xfrm>
        <a:graphic>
          <a:graphicData uri="http://schemas.openxmlformats.org/drawingml/2006/table">
            <a:tbl>
              <a:tblPr firstRow="1" bandRow="1">
                <a:tableStyleId>{5C22544A-7EE6-4342-B048-85BDC9FD1C3A}</a:tableStyleId>
              </a:tblPr>
              <a:tblGrid>
                <a:gridCol w="2761488">
                  <a:extLst>
                    <a:ext uri="{9D8B030D-6E8A-4147-A177-3AD203B41FA5}">
                      <a16:colId xmlns:a16="http://schemas.microsoft.com/office/drawing/2014/main" val="20000"/>
                    </a:ext>
                  </a:extLst>
                </a:gridCol>
                <a:gridCol w="2852928">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612648">
                <a:tc>
                  <a:txBody>
                    <a:bodyPr/>
                    <a:lstStyle/>
                    <a:p>
                      <a:pPr>
                        <a:lnSpc>
                          <a:spcPct val="105000"/>
                        </a:lnSpc>
                        <a:spcBef>
                          <a:spcPts val="0"/>
                        </a:spcBef>
                        <a:spcAft>
                          <a:spcPts val="0"/>
                        </a:spcAft>
                        <a:defRPr sz="2200" b="1">
                          <a:solidFill>
                            <a:srgbClr val="000000"/>
                          </a:solidFill>
                          <a:latin typeface="Times New Roman"/>
                        </a:defRPr>
                      </a:pPr>
                      <a:r>
                        <a:t>Existing System</a:t>
                      </a:r>
                    </a:p>
                  </a:txBody>
                  <a:tcPr marL="118872" marR="118872" marT="109728" marB="73152" anchor="ctr">
                    <a:solidFill>
                      <a:srgbClr val="E3E3E3"/>
                    </a:solidFill>
                  </a:tcPr>
                </a:tc>
                <a:tc>
                  <a:txBody>
                    <a:bodyPr/>
                    <a:lstStyle/>
                    <a:p>
                      <a:pPr>
                        <a:lnSpc>
                          <a:spcPct val="105000"/>
                        </a:lnSpc>
                        <a:spcBef>
                          <a:spcPts val="0"/>
                        </a:spcBef>
                        <a:spcAft>
                          <a:spcPts val="0"/>
                        </a:spcAft>
                        <a:defRPr sz="2200" b="1">
                          <a:solidFill>
                            <a:srgbClr val="000000"/>
                          </a:solidFill>
                          <a:latin typeface="Times New Roman"/>
                        </a:defRPr>
                      </a:pPr>
                      <a:r>
                        <a:t>Limitation</a:t>
                      </a:r>
                    </a:p>
                  </a:txBody>
                  <a:tcPr marL="118872" marR="118872" marT="109728" marB="73152" anchor="ctr">
                    <a:solidFill>
                      <a:srgbClr val="E3E3E3"/>
                    </a:solidFill>
                  </a:tcPr>
                </a:tc>
                <a:tc>
                  <a:txBody>
                    <a:bodyPr/>
                    <a:lstStyle/>
                    <a:p>
                      <a:pPr>
                        <a:lnSpc>
                          <a:spcPct val="105000"/>
                        </a:lnSpc>
                        <a:spcBef>
                          <a:spcPts val="0"/>
                        </a:spcBef>
                        <a:spcAft>
                          <a:spcPts val="0"/>
                        </a:spcAft>
                        <a:defRPr sz="2200" b="1">
                          <a:solidFill>
                            <a:srgbClr val="000000"/>
                          </a:solidFill>
                          <a:latin typeface="Times New Roman"/>
                        </a:defRPr>
                      </a:pPr>
                      <a:r>
                        <a:t>Impact</a:t>
                      </a:r>
                    </a:p>
                  </a:txBody>
                  <a:tcPr marL="118872" marR="118872" marT="109728" marB="73152" anchor="ctr">
                    <a:solidFill>
                      <a:srgbClr val="E3E3E3"/>
                    </a:solidFill>
                  </a:tcPr>
                </a:tc>
                <a:extLst>
                  <a:ext uri="{0D108BD9-81ED-4DB2-BD59-A6C34878D82A}">
                    <a16:rowId xmlns:a16="http://schemas.microsoft.com/office/drawing/2014/main" val="10000"/>
                  </a:ext>
                </a:extLst>
              </a:tr>
              <a:tr h="822960">
                <a:tc>
                  <a:txBody>
                    <a:bodyPr/>
                    <a:lstStyle/>
                    <a:p>
                      <a:pPr>
                        <a:lnSpc>
                          <a:spcPct val="105000"/>
                        </a:lnSpc>
                        <a:spcBef>
                          <a:spcPts val="0"/>
                        </a:spcBef>
                        <a:spcAft>
                          <a:spcPts val="0"/>
                        </a:spcAft>
                        <a:defRPr sz="2100" b="0">
                          <a:solidFill>
                            <a:srgbClr val="000000"/>
                          </a:solidFill>
                          <a:latin typeface="Times New Roman"/>
                        </a:defRPr>
                      </a:pPr>
                      <a:r>
                        <a:rPr dirty="0"/>
                        <a:t>Facebook Groups</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Unorganized</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Reports are difficult to prioritize.</a:t>
                      </a:r>
                    </a:p>
                  </a:txBody>
                  <a:tcPr marL="118872" marR="118872" marT="109728" marB="73152" anchor="ctr">
                    <a:solidFill>
                      <a:srgbClr val="FFFFFF"/>
                    </a:solidFill>
                  </a:tcPr>
                </a:tc>
                <a:extLst>
                  <a:ext uri="{0D108BD9-81ED-4DB2-BD59-A6C34878D82A}">
                    <a16:rowId xmlns:a16="http://schemas.microsoft.com/office/drawing/2014/main" val="10001"/>
                  </a:ext>
                </a:extLst>
              </a:tr>
              <a:tr h="822960">
                <a:tc>
                  <a:txBody>
                    <a:bodyPr/>
                    <a:lstStyle/>
                    <a:p>
                      <a:pPr>
                        <a:lnSpc>
                          <a:spcPct val="105000"/>
                        </a:lnSpc>
                        <a:spcBef>
                          <a:spcPts val="0"/>
                        </a:spcBef>
                        <a:spcAft>
                          <a:spcPts val="0"/>
                        </a:spcAft>
                        <a:defRPr sz="2100" b="0">
                          <a:solidFill>
                            <a:srgbClr val="000000"/>
                          </a:solidFill>
                          <a:latin typeface="Times New Roman"/>
                        </a:defRPr>
                      </a:pPr>
                      <a:r>
                        <a:rPr dirty="0"/>
                        <a:t>WhatsApp Groups</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No Tracking</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Case updates become difficult to follow.</a:t>
                      </a:r>
                    </a:p>
                  </a:txBody>
                  <a:tcPr marL="118872" marR="118872" marT="109728" marB="73152" anchor="ctr">
                    <a:solidFill>
                      <a:srgbClr val="FFFFFF"/>
                    </a:solidFill>
                  </a:tcPr>
                </a:tc>
                <a:extLst>
                  <a:ext uri="{0D108BD9-81ED-4DB2-BD59-A6C34878D82A}">
                    <a16:rowId xmlns:a16="http://schemas.microsoft.com/office/drawing/2014/main" val="10002"/>
                  </a:ext>
                </a:extLst>
              </a:tr>
              <a:tr h="822960">
                <a:tc>
                  <a:txBody>
                    <a:bodyPr/>
                    <a:lstStyle/>
                    <a:p>
                      <a:pPr>
                        <a:lnSpc>
                          <a:spcPct val="105000"/>
                        </a:lnSpc>
                        <a:spcBef>
                          <a:spcPts val="0"/>
                        </a:spcBef>
                        <a:spcAft>
                          <a:spcPts val="0"/>
                        </a:spcAft>
                        <a:defRPr sz="2100" b="0">
                          <a:solidFill>
                            <a:srgbClr val="000000"/>
                          </a:solidFill>
                          <a:latin typeface="Times New Roman"/>
                        </a:defRPr>
                      </a:pPr>
                      <a:r>
                        <a:rPr dirty="0"/>
                        <a:t>Phone Calls</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Delayed Response</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Follow-up depends on availability.</a:t>
                      </a:r>
                    </a:p>
                  </a:txBody>
                  <a:tcPr marL="118872" marR="118872" marT="109728" marB="73152" anchor="ctr">
                    <a:solidFill>
                      <a:srgbClr val="FFFFFF"/>
                    </a:solidFill>
                  </a:tcPr>
                </a:tc>
                <a:extLst>
                  <a:ext uri="{0D108BD9-81ED-4DB2-BD59-A6C34878D82A}">
                    <a16:rowId xmlns:a16="http://schemas.microsoft.com/office/drawing/2014/main" val="10003"/>
                  </a:ext>
                </a:extLst>
              </a:tr>
              <a:tr h="822960">
                <a:tc>
                  <a:txBody>
                    <a:bodyPr/>
                    <a:lstStyle/>
                    <a:p>
                      <a:pPr>
                        <a:lnSpc>
                          <a:spcPct val="105000"/>
                        </a:lnSpc>
                        <a:spcBef>
                          <a:spcPts val="0"/>
                        </a:spcBef>
                        <a:spcAft>
                          <a:spcPts val="0"/>
                        </a:spcAft>
                        <a:defRPr sz="2100" b="0">
                          <a:solidFill>
                            <a:srgbClr val="000000"/>
                          </a:solidFill>
                          <a:latin typeface="Times New Roman"/>
                        </a:defRPr>
                      </a:pPr>
                      <a:r>
                        <a:rPr dirty="0"/>
                        <a:t>NGOs</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Limited Reach</a:t>
                      </a:r>
                    </a:p>
                  </a:txBody>
                  <a:tcPr marL="118872" marR="118872" marT="109728" marB="73152" anchor="ctr">
                    <a:solidFill>
                      <a:srgbClr val="FFFFFF"/>
                    </a:solidFill>
                  </a:tcPr>
                </a:tc>
                <a:tc>
                  <a:txBody>
                    <a:bodyPr/>
                    <a:lstStyle/>
                    <a:p>
                      <a:pPr>
                        <a:lnSpc>
                          <a:spcPct val="105000"/>
                        </a:lnSpc>
                        <a:spcBef>
                          <a:spcPts val="0"/>
                        </a:spcBef>
                        <a:spcAft>
                          <a:spcPts val="0"/>
                        </a:spcAft>
                        <a:defRPr sz="2100" b="0">
                          <a:solidFill>
                            <a:srgbClr val="000000"/>
                          </a:solidFill>
                          <a:latin typeface="Times New Roman"/>
                        </a:defRPr>
                      </a:pPr>
                      <a:r>
                        <a:rPr dirty="0"/>
                        <a:t>Capacity and geography constrain help.</a:t>
                      </a:r>
                    </a:p>
                  </a:txBody>
                  <a:tcPr marL="118872" marR="118872" marT="109728" marB="73152"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841248" y="5669280"/>
            <a:ext cx="1051560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2100" b="0">
                <a:solidFill>
                  <a:srgbClr val="000000"/>
                </a:solidFill>
                <a:latin typeface="Times New Roman"/>
              </a:defRPr>
            </a:pPr>
            <a:r>
              <a:rPr dirty="0" err="1"/>
              <a:t>AniResQ</a:t>
            </a:r>
            <a:r>
              <a:rPr dirty="0"/>
              <a:t> provides a shared case record, an assigned responder and visible progress through the rescue lifecycle.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Literature Survey:</a:t>
            </a:r>
          </a:p>
        </p:txBody>
      </p:sp>
      <p:graphicFrame>
        <p:nvGraphicFramePr>
          <p:cNvPr id="9" name="Content Placeholder 8">
            <a:extLst>
              <a:ext uri="{FF2B5EF4-FFF2-40B4-BE49-F238E27FC236}">
                <a16:creationId xmlns:a16="http://schemas.microsoft.com/office/drawing/2014/main" id="{B9E5C8AF-0567-4067-4F41-6581F6E92D75}"/>
              </a:ext>
            </a:extLst>
          </p:cNvPr>
          <p:cNvGraphicFramePr>
            <a:graphicFrameLocks/>
          </p:cNvGraphicFramePr>
          <p:nvPr>
            <p:extLst>
              <p:ext uri="{D42A27DB-BD31-4B8C-83A1-F6EECF244321}">
                <p14:modId xmlns:p14="http://schemas.microsoft.com/office/powerpoint/2010/main" val="3062181028"/>
              </p:ext>
            </p:extLst>
          </p:nvPr>
        </p:nvGraphicFramePr>
        <p:xfrm>
          <a:off x="787810" y="1356852"/>
          <a:ext cx="10616380" cy="4552335"/>
        </p:xfrm>
        <a:graphic>
          <a:graphicData uri="http://schemas.openxmlformats.org/drawingml/2006/table">
            <a:tbl>
              <a:tblPr>
                <a:tableStyleId>{616DA210-FB5B-4158-B5E0-FEB733F419BA}</a:tableStyleId>
              </a:tblPr>
              <a:tblGrid>
                <a:gridCol w="333063">
                  <a:extLst>
                    <a:ext uri="{9D8B030D-6E8A-4147-A177-3AD203B41FA5}">
                      <a16:colId xmlns:a16="http://schemas.microsoft.com/office/drawing/2014/main" val="1215668163"/>
                    </a:ext>
                  </a:extLst>
                </a:gridCol>
                <a:gridCol w="1967153">
                  <a:extLst>
                    <a:ext uri="{9D8B030D-6E8A-4147-A177-3AD203B41FA5}">
                      <a16:colId xmlns:a16="http://schemas.microsoft.com/office/drawing/2014/main" val="3960822458"/>
                    </a:ext>
                  </a:extLst>
                </a:gridCol>
                <a:gridCol w="1405109">
                  <a:extLst>
                    <a:ext uri="{9D8B030D-6E8A-4147-A177-3AD203B41FA5}">
                      <a16:colId xmlns:a16="http://schemas.microsoft.com/office/drawing/2014/main" val="1410870421"/>
                    </a:ext>
                  </a:extLst>
                </a:gridCol>
                <a:gridCol w="447554">
                  <a:extLst>
                    <a:ext uri="{9D8B030D-6E8A-4147-A177-3AD203B41FA5}">
                      <a16:colId xmlns:a16="http://schemas.microsoft.com/office/drawing/2014/main" val="2845713997"/>
                    </a:ext>
                  </a:extLst>
                </a:gridCol>
                <a:gridCol w="1686131">
                  <a:extLst>
                    <a:ext uri="{9D8B030D-6E8A-4147-A177-3AD203B41FA5}">
                      <a16:colId xmlns:a16="http://schemas.microsoft.com/office/drawing/2014/main" val="386455453"/>
                    </a:ext>
                  </a:extLst>
                </a:gridCol>
                <a:gridCol w="2529196">
                  <a:extLst>
                    <a:ext uri="{9D8B030D-6E8A-4147-A177-3AD203B41FA5}">
                      <a16:colId xmlns:a16="http://schemas.microsoft.com/office/drawing/2014/main" val="1835933596"/>
                    </a:ext>
                  </a:extLst>
                </a:gridCol>
                <a:gridCol w="2248174">
                  <a:extLst>
                    <a:ext uri="{9D8B030D-6E8A-4147-A177-3AD203B41FA5}">
                      <a16:colId xmlns:a16="http://schemas.microsoft.com/office/drawing/2014/main" val="443842593"/>
                    </a:ext>
                  </a:extLst>
                </a:gridCol>
              </a:tblGrid>
              <a:tr h="252908">
                <a:tc>
                  <a:txBody>
                    <a:bodyPr/>
                    <a:lstStyle/>
                    <a:p>
                      <a:pPr algn="ctr" fontAlgn="ctr">
                        <a:buNone/>
                      </a:pPr>
                      <a:r>
                        <a:rPr lang="en-IN" sz="900" u="none" strike="noStrike" dirty="0" err="1">
                          <a:effectLst/>
                        </a:rPr>
                        <a:t>S.No</a:t>
                      </a:r>
                      <a:endParaRPr lang="en-IN" sz="900" b="1"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Journal / Paper</a:t>
                      </a:r>
                      <a:endParaRPr lang="en-IN" sz="900" b="1"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Authors</a:t>
                      </a:r>
                      <a:endParaRPr lang="en-IN" sz="900" b="1"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Year</a:t>
                      </a:r>
                      <a:endParaRPr lang="en-IN" sz="900" b="1"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Tools / Technologies</a:t>
                      </a:r>
                      <a:endParaRPr lang="en-IN" sz="900" b="1"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Advantages</a:t>
                      </a:r>
                      <a:endParaRPr lang="en-IN" sz="900" b="1"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Disadvantages</a:t>
                      </a:r>
                      <a:endParaRPr lang="en-IN" sz="900" b="1" i="0" u="none" strike="noStrike">
                        <a:solidFill>
                          <a:srgbClr val="000000"/>
                        </a:solidFill>
                        <a:effectLst/>
                        <a:latin typeface="Calibri" panose="020F0502020204030204" pitchFamily="34" charset="0"/>
                      </a:endParaRPr>
                    </a:p>
                  </a:txBody>
                  <a:tcPr marL="6186" marR="6186" marT="6186" marB="0" anchor="ctr"/>
                </a:tc>
                <a:extLst>
                  <a:ext uri="{0D108BD9-81ED-4DB2-BD59-A6C34878D82A}">
                    <a16:rowId xmlns:a16="http://schemas.microsoft.com/office/drawing/2014/main" val="3619067399"/>
                  </a:ext>
                </a:extLst>
              </a:tr>
              <a:tr h="1011629">
                <a:tc>
                  <a:txBody>
                    <a:bodyPr/>
                    <a:lstStyle/>
                    <a:p>
                      <a:pPr algn="ctr" fontAlgn="ctr">
                        <a:buNone/>
                      </a:pPr>
                      <a:r>
                        <a:rPr lang="en-IN" sz="900" u="none" strike="noStrike" dirty="0">
                          <a:effectLst/>
                        </a:rPr>
                        <a:t>1</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Increasing Adoption Rates at Animal   Shelters: A Two-Phase Approach to Predict Length of Stay and Optimal Shelter Allocation</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Janae Bradley, Suchithra Rajendran</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2021</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Machine Learning, Logistic Regression, ANN, Gradient Boosting, Random Forest</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 Predicts animal shelter length of stay</a:t>
                      </a:r>
                      <a:br>
                        <a:rPr lang="en-IN" sz="900" u="none" strike="noStrike" dirty="0">
                          <a:effectLst/>
                        </a:rPr>
                      </a:br>
                      <a:r>
                        <a:rPr lang="en-IN" sz="900" u="none" strike="noStrike" dirty="0">
                          <a:effectLst/>
                        </a:rPr>
                        <a:t>• Helps improve shelter allocation</a:t>
                      </a:r>
                      <a:br>
                        <a:rPr lang="en-IN" sz="900" u="none" strike="noStrike" dirty="0">
                          <a:effectLst/>
                        </a:rPr>
                      </a:br>
                      <a:r>
                        <a:rPr lang="en-IN" sz="900" u="none" strike="noStrike" dirty="0">
                          <a:effectLst/>
                        </a:rPr>
                        <a:t>• Uses multiple ML models</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 Mainly focuses on shelter data</a:t>
                      </a:r>
                      <a:br>
                        <a:rPr lang="en-IN" sz="900" u="none" strike="noStrike" dirty="0">
                          <a:effectLst/>
                        </a:rPr>
                      </a:br>
                      <a:r>
                        <a:rPr lang="en-IN" sz="900" u="none" strike="noStrike" dirty="0">
                          <a:effectLst/>
                        </a:rPr>
                        <a:t>• Requires historical data</a:t>
                      </a:r>
                      <a:endParaRPr lang="en-IN" sz="900" b="0" i="0" u="none" strike="noStrike" dirty="0">
                        <a:solidFill>
                          <a:srgbClr val="000000"/>
                        </a:solidFill>
                        <a:effectLst/>
                        <a:latin typeface="Calibri" panose="020F0502020204030204" pitchFamily="34" charset="0"/>
                      </a:endParaRPr>
                    </a:p>
                  </a:txBody>
                  <a:tcPr marL="6186" marR="6186" marT="6186" marB="0" anchor="ctr"/>
                </a:tc>
                <a:extLst>
                  <a:ext uri="{0D108BD9-81ED-4DB2-BD59-A6C34878D82A}">
                    <a16:rowId xmlns:a16="http://schemas.microsoft.com/office/drawing/2014/main" val="2752148094"/>
                  </a:ext>
                </a:extLst>
              </a:tr>
              <a:tr h="758723">
                <a:tc>
                  <a:txBody>
                    <a:bodyPr/>
                    <a:lstStyle/>
                    <a:p>
                      <a:pPr algn="ctr" fontAlgn="ctr">
                        <a:buNone/>
                      </a:pPr>
                      <a:r>
                        <a:rPr lang="en-IN" sz="900" u="none" strike="noStrike">
                          <a:effectLst/>
                        </a:rPr>
                        <a:t>2</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Animal Ranger Website Design: Animal Adoption Platform</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Ferdianto, Witarsyah, William Theodore, Apollos Avrialdo, Faiq Naufal</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2023</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Web Application, UML, Database</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 Connects animal shelters and animal lovers</a:t>
                      </a:r>
                      <a:br>
                        <a:rPr lang="en-IN" sz="900" u="none" strike="noStrike">
                          <a:effectLst/>
                        </a:rPr>
                      </a:br>
                      <a:r>
                        <a:rPr lang="en-IN" sz="900" u="none" strike="noStrike">
                          <a:effectLst/>
                        </a:rPr>
                        <a:t>• Supports animal rescue and adoption</a:t>
                      </a:r>
                      <a:br>
                        <a:rPr lang="en-IN" sz="900" u="none" strike="noStrike">
                          <a:effectLst/>
                        </a:rPr>
                      </a:br>
                      <a:r>
                        <a:rPr lang="en-IN" sz="900" u="none" strike="noStrike">
                          <a:effectLst/>
                        </a:rPr>
                        <a:t>• Improves availability of animal information</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 Mainly focuses on website-based adoption</a:t>
                      </a:r>
                      <a:br>
                        <a:rPr lang="en-IN" sz="900" u="none" strike="noStrike">
                          <a:effectLst/>
                        </a:rPr>
                      </a:br>
                      <a:r>
                        <a:rPr lang="en-IN" sz="900" u="none" strike="noStrike">
                          <a:effectLst/>
                        </a:rPr>
                        <a:t>• Limited advanced recommendation features</a:t>
                      </a:r>
                      <a:endParaRPr lang="en-IN" sz="900" b="0" i="0" u="none" strike="noStrike">
                        <a:solidFill>
                          <a:srgbClr val="000000"/>
                        </a:solidFill>
                        <a:effectLst/>
                        <a:latin typeface="Calibri" panose="020F0502020204030204" pitchFamily="34" charset="0"/>
                      </a:endParaRPr>
                    </a:p>
                  </a:txBody>
                  <a:tcPr marL="6186" marR="6186" marT="6186" marB="0" anchor="ctr"/>
                </a:tc>
                <a:extLst>
                  <a:ext uri="{0D108BD9-81ED-4DB2-BD59-A6C34878D82A}">
                    <a16:rowId xmlns:a16="http://schemas.microsoft.com/office/drawing/2014/main" val="17143484"/>
                  </a:ext>
                </a:extLst>
              </a:tr>
              <a:tr h="758723">
                <a:tc>
                  <a:txBody>
                    <a:bodyPr/>
                    <a:lstStyle/>
                    <a:p>
                      <a:pPr algn="ctr" fontAlgn="ctr">
                        <a:buNone/>
                      </a:pPr>
                      <a:r>
                        <a:rPr lang="en-IN" sz="900" u="none" strike="noStrike">
                          <a:effectLst/>
                        </a:rPr>
                        <a:t>3</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A Content-Based Recommendation System for Animal Adoption Using the Weighted Cosine Technique</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M. C. Santos.</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2023</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Content-Based Filtering, Weighted Cosine Similarity</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 Matches animals with adopter preferences</a:t>
                      </a:r>
                      <a:br>
                        <a:rPr lang="en-IN" sz="900" u="none" strike="noStrike">
                          <a:effectLst/>
                        </a:rPr>
                      </a:br>
                      <a:r>
                        <a:rPr lang="en-IN" sz="900" u="none" strike="noStrike">
                          <a:effectLst/>
                        </a:rPr>
                        <a:t>• Helps users find suitable animals</a:t>
                      </a:r>
                      <a:br>
                        <a:rPr lang="en-IN" sz="900" u="none" strike="noStrike">
                          <a:effectLst/>
                        </a:rPr>
                      </a:br>
                      <a:r>
                        <a:rPr lang="en-IN" sz="900" u="none" strike="noStrike">
                          <a:effectLst/>
                        </a:rPr>
                        <a:t>• Provides personalized recommendations</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 Depends on available animal/user information</a:t>
                      </a:r>
                      <a:br>
                        <a:rPr lang="en-IN" sz="900" u="none" strike="noStrike">
                          <a:effectLst/>
                        </a:rPr>
                      </a:br>
                      <a:r>
                        <a:rPr lang="en-IN" sz="900" u="none" strike="noStrike">
                          <a:effectLst/>
                        </a:rPr>
                        <a:t>• Mainly focuses on recommendation</a:t>
                      </a:r>
                      <a:endParaRPr lang="en-IN" sz="900" b="0" i="0" u="none" strike="noStrike">
                        <a:solidFill>
                          <a:srgbClr val="000000"/>
                        </a:solidFill>
                        <a:effectLst/>
                        <a:latin typeface="Calibri" panose="020F0502020204030204" pitchFamily="34" charset="0"/>
                      </a:endParaRPr>
                    </a:p>
                  </a:txBody>
                  <a:tcPr marL="6186" marR="6186" marT="6186" marB="0" anchor="ctr"/>
                </a:tc>
                <a:extLst>
                  <a:ext uri="{0D108BD9-81ED-4DB2-BD59-A6C34878D82A}">
                    <a16:rowId xmlns:a16="http://schemas.microsoft.com/office/drawing/2014/main" val="1905452632"/>
                  </a:ext>
                </a:extLst>
              </a:tr>
              <a:tr h="758723">
                <a:tc>
                  <a:txBody>
                    <a:bodyPr/>
                    <a:lstStyle/>
                    <a:p>
                      <a:pPr algn="ctr" fontAlgn="ctr">
                        <a:buNone/>
                      </a:pPr>
                      <a:r>
                        <a:rPr lang="en-IN" sz="900" u="none" strike="noStrike">
                          <a:effectLst/>
                        </a:rPr>
                        <a:t>4</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Efficient Framework for Pet Adoption  and Recommendation System</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err="1">
                          <a:effectLst/>
                        </a:rPr>
                        <a:t>Ipshit</a:t>
                      </a:r>
                      <a:r>
                        <a:rPr lang="en-IN" sz="900" u="none" strike="noStrike" dirty="0">
                          <a:effectLst/>
                        </a:rPr>
                        <a:t> Haste, Jagdish Pimple, Tushar Thakare, Krutika </a:t>
                      </a:r>
                      <a:r>
                        <a:rPr lang="en-IN" sz="900" u="none" strike="noStrike" dirty="0" err="1">
                          <a:effectLst/>
                        </a:rPr>
                        <a:t>Gadigone</a:t>
                      </a:r>
                      <a:r>
                        <a:rPr lang="en-IN" sz="900" u="none" strike="noStrike" dirty="0">
                          <a:effectLst/>
                        </a:rPr>
                        <a:t>.</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2025</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Centralized Database, Search Filters, Recommendation, Messaging</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 Centralizes adoption information</a:t>
                      </a:r>
                      <a:br>
                        <a:rPr lang="en-IN" sz="900" u="none" strike="noStrike" dirty="0">
                          <a:effectLst/>
                        </a:rPr>
                      </a:br>
                      <a:r>
                        <a:rPr lang="en-IN" sz="900" u="none" strike="noStrike" dirty="0">
                          <a:effectLst/>
                        </a:rPr>
                        <a:t>• Provides search and comparison features</a:t>
                      </a:r>
                      <a:br>
                        <a:rPr lang="en-IN" sz="900" u="none" strike="noStrike" dirty="0">
                          <a:effectLst/>
                        </a:rPr>
                      </a:br>
                      <a:r>
                        <a:rPr lang="en-IN" sz="900" u="none" strike="noStrike" dirty="0">
                          <a:effectLst/>
                        </a:rPr>
                        <a:t>• Supports communication between users</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 Mainly focused on adoption</a:t>
                      </a:r>
                      <a:br>
                        <a:rPr lang="en-IN" sz="900" u="none" strike="noStrike">
                          <a:effectLst/>
                        </a:rPr>
                      </a:br>
                      <a:r>
                        <a:rPr lang="en-IN" sz="900" u="none" strike="noStrike">
                          <a:effectLst/>
                        </a:rPr>
                        <a:t>• Limited rescue coordination</a:t>
                      </a:r>
                      <a:endParaRPr lang="en-IN" sz="900" b="0" i="0" u="none" strike="noStrike">
                        <a:solidFill>
                          <a:srgbClr val="000000"/>
                        </a:solidFill>
                        <a:effectLst/>
                        <a:latin typeface="Calibri" panose="020F0502020204030204" pitchFamily="34" charset="0"/>
                      </a:endParaRPr>
                    </a:p>
                  </a:txBody>
                  <a:tcPr marL="6186" marR="6186" marT="6186" marB="0" anchor="ctr"/>
                </a:tc>
                <a:extLst>
                  <a:ext uri="{0D108BD9-81ED-4DB2-BD59-A6C34878D82A}">
                    <a16:rowId xmlns:a16="http://schemas.microsoft.com/office/drawing/2014/main" val="758351048"/>
                  </a:ext>
                </a:extLst>
              </a:tr>
              <a:tr h="1011629">
                <a:tc>
                  <a:txBody>
                    <a:bodyPr/>
                    <a:lstStyle/>
                    <a:p>
                      <a:pPr algn="ctr" fontAlgn="ctr">
                        <a:buNone/>
                      </a:pPr>
                      <a:r>
                        <a:rPr lang="en-IN" sz="900" u="none" strike="noStrike">
                          <a:effectLst/>
                        </a:rPr>
                        <a:t>5</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Be My Home in Smart Cities: A Mobile Application for Stray Animal Tracking, Adoption and Shelter Management</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Hacer Sueda Efe, Gizem Yildiz, Önder Yakut</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a:effectLst/>
                        </a:rPr>
                        <a:t>2025</a:t>
                      </a:r>
                      <a:endParaRPr lang="en-IN" sz="900" b="0" i="0" u="none" strike="noStrike">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Android, Java, Firebase, GPS/Location Services</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 Tracks stray animals</a:t>
                      </a:r>
                      <a:br>
                        <a:rPr lang="en-IN" sz="900" u="none" strike="noStrike" dirty="0">
                          <a:effectLst/>
                        </a:rPr>
                      </a:br>
                      <a:r>
                        <a:rPr lang="en-IN" sz="900" u="none" strike="noStrike" dirty="0">
                          <a:effectLst/>
                        </a:rPr>
                        <a:t>• Supports adoption and shelter management</a:t>
                      </a:r>
                      <a:br>
                        <a:rPr lang="en-IN" sz="900" u="none" strike="noStrike" dirty="0">
                          <a:effectLst/>
                        </a:rPr>
                      </a:br>
                      <a:r>
                        <a:rPr lang="en-IN" sz="900" u="none" strike="noStrike" dirty="0">
                          <a:effectLst/>
                        </a:rPr>
                        <a:t>• Includes health/vaccination tracking</a:t>
                      </a:r>
                      <a:br>
                        <a:rPr lang="en-IN" sz="900" u="none" strike="noStrike" dirty="0">
                          <a:effectLst/>
                        </a:rPr>
                      </a:br>
                      <a:r>
                        <a:rPr lang="en-IN" sz="900" u="none" strike="noStrike" dirty="0">
                          <a:effectLst/>
                        </a:rPr>
                        <a:t>• Supports location-based information</a:t>
                      </a:r>
                      <a:endParaRPr lang="en-IN" sz="900" b="0" i="0" u="none" strike="noStrike" dirty="0">
                        <a:solidFill>
                          <a:srgbClr val="000000"/>
                        </a:solidFill>
                        <a:effectLst/>
                        <a:latin typeface="Calibri" panose="020F0502020204030204" pitchFamily="34" charset="0"/>
                      </a:endParaRPr>
                    </a:p>
                  </a:txBody>
                  <a:tcPr marL="6186" marR="6186" marT="6186" marB="0" anchor="ctr"/>
                </a:tc>
                <a:tc>
                  <a:txBody>
                    <a:bodyPr/>
                    <a:lstStyle/>
                    <a:p>
                      <a:pPr algn="ctr" fontAlgn="ctr">
                        <a:buNone/>
                      </a:pPr>
                      <a:r>
                        <a:rPr lang="en-IN" sz="900" u="none" strike="noStrike" dirty="0">
                          <a:effectLst/>
                        </a:rPr>
                        <a:t>• Requires continuous data updates</a:t>
                      </a:r>
                      <a:br>
                        <a:rPr lang="en-IN" sz="900" u="none" strike="noStrike" dirty="0">
                          <a:effectLst/>
                        </a:rPr>
                      </a:br>
                      <a:r>
                        <a:rPr lang="en-IN" sz="900" u="none" strike="noStrike" dirty="0">
                          <a:effectLst/>
                        </a:rPr>
                        <a:t>• Depends on active participation from users/shelters</a:t>
                      </a:r>
                      <a:endParaRPr lang="en-IN" sz="900" b="0" i="0" u="none" strike="noStrike" dirty="0">
                        <a:solidFill>
                          <a:srgbClr val="000000"/>
                        </a:solidFill>
                        <a:effectLst/>
                        <a:latin typeface="Calibri" panose="020F0502020204030204" pitchFamily="34" charset="0"/>
                      </a:endParaRPr>
                    </a:p>
                  </a:txBody>
                  <a:tcPr marL="6186" marR="6186" marT="6186" marB="0" anchor="ctr"/>
                </a:tc>
                <a:extLst>
                  <a:ext uri="{0D108BD9-81ED-4DB2-BD59-A6C34878D82A}">
                    <a16:rowId xmlns:a16="http://schemas.microsoft.com/office/drawing/2014/main" val="2956827939"/>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Research Gap:</a:t>
            </a:r>
          </a:p>
        </p:txBody>
      </p:sp>
      <p:sp>
        <p:nvSpPr>
          <p:cNvPr id="6" name="TextBox 5"/>
          <p:cNvSpPr txBox="1"/>
          <p:nvPr/>
        </p:nvSpPr>
        <p:spPr>
          <a:xfrm>
            <a:off x="841248" y="1353312"/>
            <a:ext cx="10515600" cy="95097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Prior systems emphasize adoption, shelter operations or recommendation. AniResQ proposes explicit coordination across the full rescue-to-adoption lifecycle.</a:t>
            </a:r>
          </a:p>
        </p:txBody>
      </p:sp>
      <p:graphicFrame>
        <p:nvGraphicFramePr>
          <p:cNvPr id="7" name="Table 6"/>
          <p:cNvGraphicFramePr>
            <a:graphicFrameLocks noGrp="1"/>
          </p:cNvGraphicFramePr>
          <p:nvPr/>
        </p:nvGraphicFramePr>
        <p:xfrm>
          <a:off x="804672" y="2688336"/>
          <a:ext cx="10479024" cy="2862072"/>
        </p:xfrm>
        <a:graphic>
          <a:graphicData uri="http://schemas.openxmlformats.org/drawingml/2006/table">
            <a:tbl>
              <a:tblPr firstRow="1" bandRow="1">
                <a:tableStyleId>{5C22544A-7EE6-4342-B048-85BDC9FD1C3A}</a:tableStyleId>
              </a:tblPr>
              <a:tblGrid>
                <a:gridCol w="5239512">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tblGrid>
              <a:tr h="630936">
                <a:tc>
                  <a:txBody>
                    <a:bodyPr/>
                    <a:lstStyle/>
                    <a:p>
                      <a:pPr>
                        <a:lnSpc>
                          <a:spcPct val="105000"/>
                        </a:lnSpc>
                        <a:spcBef>
                          <a:spcPts val="0"/>
                        </a:spcBef>
                        <a:spcAft>
                          <a:spcPts val="0"/>
                        </a:spcAft>
                        <a:defRPr sz="2000" b="1">
                          <a:solidFill>
                            <a:srgbClr val="000000"/>
                          </a:solidFill>
                          <a:latin typeface="Times New Roman"/>
                        </a:defRPr>
                      </a:pPr>
                      <a:r>
                        <a:rPr dirty="0"/>
                        <a:t>Common Focus in Existing Approaches</a:t>
                      </a:r>
                    </a:p>
                  </a:txBody>
                  <a:tcPr marL="118872" marR="118872" marT="109728" marB="73152" anchor="ctr">
                    <a:solidFill>
                      <a:srgbClr val="E3E3E3"/>
                    </a:solidFill>
                  </a:tcPr>
                </a:tc>
                <a:tc>
                  <a:txBody>
                    <a:bodyPr/>
                    <a:lstStyle/>
                    <a:p>
                      <a:pPr>
                        <a:lnSpc>
                          <a:spcPct val="105000"/>
                        </a:lnSpc>
                        <a:spcBef>
                          <a:spcPts val="0"/>
                        </a:spcBef>
                        <a:spcAft>
                          <a:spcPts val="0"/>
                        </a:spcAft>
                        <a:defRPr sz="2000" b="1">
                          <a:solidFill>
                            <a:srgbClr val="000000"/>
                          </a:solidFill>
                          <a:latin typeface="Times New Roman"/>
                        </a:defRPr>
                      </a:pPr>
                      <a:r>
                        <a:t>Proposed AniResQ Scope</a:t>
                      </a:r>
                    </a:p>
                  </a:txBody>
                  <a:tcPr marL="118872" marR="118872" marT="109728" marB="73152" anchor="ctr">
                    <a:solidFill>
                      <a:srgbClr val="E3E3E3"/>
                    </a:solidFill>
                  </a:tcPr>
                </a:tc>
                <a:extLst>
                  <a:ext uri="{0D108BD9-81ED-4DB2-BD59-A6C34878D82A}">
                    <a16:rowId xmlns:a16="http://schemas.microsoft.com/office/drawing/2014/main" val="10000"/>
                  </a:ext>
                </a:extLst>
              </a:tr>
              <a:tr h="557784">
                <a:tc>
                  <a:txBody>
                    <a:bodyPr/>
                    <a:lstStyle/>
                    <a:p>
                      <a:pPr>
                        <a:lnSpc>
                          <a:spcPct val="105000"/>
                        </a:lnSpc>
                        <a:spcBef>
                          <a:spcPts val="0"/>
                        </a:spcBef>
                        <a:spcAft>
                          <a:spcPts val="0"/>
                        </a:spcAft>
                        <a:defRPr sz="2000" b="0">
                          <a:solidFill>
                            <a:srgbClr val="000000"/>
                          </a:solidFill>
                          <a:latin typeface="Times New Roman"/>
                        </a:defRPr>
                      </a:pPr>
                      <a:r>
                        <a:rPr dirty="0"/>
                        <a:t>Adoption-only portals</a:t>
                      </a:r>
                    </a:p>
                  </a:txBody>
                  <a:tcPr marL="118872" marR="118872" marT="109728" marB="73152" anchor="ctr">
                    <a:solidFill>
                      <a:srgbClr val="FFFFFF"/>
                    </a:solidFill>
                  </a:tcPr>
                </a:tc>
                <a:tc>
                  <a:txBody>
                    <a:bodyPr/>
                    <a:lstStyle/>
                    <a:p>
                      <a:pPr>
                        <a:lnSpc>
                          <a:spcPct val="105000"/>
                        </a:lnSpc>
                        <a:spcBef>
                          <a:spcPts val="0"/>
                        </a:spcBef>
                        <a:spcAft>
                          <a:spcPts val="0"/>
                        </a:spcAft>
                        <a:defRPr sz="2000" b="0">
                          <a:solidFill>
                            <a:srgbClr val="000000"/>
                          </a:solidFill>
                          <a:latin typeface="Times New Roman"/>
                        </a:defRPr>
                      </a:pPr>
                      <a:r>
                        <a:t>Rescue management and adoption</a:t>
                      </a:r>
                    </a:p>
                  </a:txBody>
                  <a:tcPr marL="118872" marR="118872" marT="109728" marB="73152" anchor="ctr">
                    <a:solidFill>
                      <a:srgbClr val="FFFFFF"/>
                    </a:solidFill>
                  </a:tcPr>
                </a:tc>
                <a:extLst>
                  <a:ext uri="{0D108BD9-81ED-4DB2-BD59-A6C34878D82A}">
                    <a16:rowId xmlns:a16="http://schemas.microsoft.com/office/drawing/2014/main" val="10001"/>
                  </a:ext>
                </a:extLst>
              </a:tr>
              <a:tr h="557784">
                <a:tc>
                  <a:txBody>
                    <a:bodyPr/>
                    <a:lstStyle/>
                    <a:p>
                      <a:pPr>
                        <a:lnSpc>
                          <a:spcPct val="105000"/>
                        </a:lnSpc>
                        <a:spcBef>
                          <a:spcPts val="0"/>
                        </a:spcBef>
                        <a:spcAft>
                          <a:spcPts val="0"/>
                        </a:spcAft>
                        <a:defRPr sz="2000" b="0">
                          <a:solidFill>
                            <a:srgbClr val="000000"/>
                          </a:solidFill>
                          <a:latin typeface="Times New Roman"/>
                        </a:defRPr>
                      </a:pPr>
                      <a:r>
                        <a:t>Shelter-management-only tools</a:t>
                      </a:r>
                    </a:p>
                  </a:txBody>
                  <a:tcPr marL="118872" marR="118872" marT="109728" marB="73152" anchor="ctr">
                    <a:solidFill>
                      <a:srgbClr val="FFFFFF"/>
                    </a:solidFill>
                  </a:tcPr>
                </a:tc>
                <a:tc>
                  <a:txBody>
                    <a:bodyPr/>
                    <a:lstStyle/>
                    <a:p>
                      <a:pPr>
                        <a:lnSpc>
                          <a:spcPct val="105000"/>
                        </a:lnSpc>
                        <a:spcBef>
                          <a:spcPts val="0"/>
                        </a:spcBef>
                        <a:spcAft>
                          <a:spcPts val="0"/>
                        </a:spcAft>
                        <a:defRPr sz="2000" b="0">
                          <a:solidFill>
                            <a:srgbClr val="000000"/>
                          </a:solidFill>
                          <a:latin typeface="Times New Roman"/>
                        </a:defRPr>
                      </a:pPr>
                      <a:r>
                        <a:rPr dirty="0"/>
                        <a:t>A shared citizen–shelter ecosystem</a:t>
                      </a:r>
                    </a:p>
                  </a:txBody>
                  <a:tcPr marL="118872" marR="118872" marT="109728" marB="73152" anchor="ctr">
                    <a:solidFill>
                      <a:srgbClr val="FFFFFF"/>
                    </a:solidFill>
                  </a:tcPr>
                </a:tc>
                <a:extLst>
                  <a:ext uri="{0D108BD9-81ED-4DB2-BD59-A6C34878D82A}">
                    <a16:rowId xmlns:a16="http://schemas.microsoft.com/office/drawing/2014/main" val="10002"/>
                  </a:ext>
                </a:extLst>
              </a:tr>
              <a:tr h="557784">
                <a:tc>
                  <a:txBody>
                    <a:bodyPr/>
                    <a:lstStyle/>
                    <a:p>
                      <a:pPr>
                        <a:lnSpc>
                          <a:spcPct val="105000"/>
                        </a:lnSpc>
                        <a:spcBef>
                          <a:spcPts val="0"/>
                        </a:spcBef>
                        <a:spcAft>
                          <a:spcPts val="0"/>
                        </a:spcAft>
                        <a:defRPr sz="2000" b="0">
                          <a:solidFill>
                            <a:srgbClr val="000000"/>
                          </a:solidFill>
                          <a:latin typeface="Times New Roman"/>
                        </a:defRPr>
                      </a:pPr>
                      <a:r>
                        <a:t>Recommendation-only models</a:t>
                      </a:r>
                    </a:p>
                  </a:txBody>
                  <a:tcPr marL="118872" marR="118872" marT="109728" marB="73152" anchor="ctr">
                    <a:solidFill>
                      <a:srgbClr val="FFFFFF"/>
                    </a:solidFill>
                  </a:tcPr>
                </a:tc>
                <a:tc>
                  <a:txBody>
                    <a:bodyPr/>
                    <a:lstStyle/>
                    <a:p>
                      <a:pPr>
                        <a:lnSpc>
                          <a:spcPct val="105000"/>
                        </a:lnSpc>
                        <a:spcBef>
                          <a:spcPts val="0"/>
                        </a:spcBef>
                        <a:spcAft>
                          <a:spcPts val="0"/>
                        </a:spcAft>
                        <a:defRPr sz="2000" b="0">
                          <a:solidFill>
                            <a:srgbClr val="000000"/>
                          </a:solidFill>
                          <a:latin typeface="Times New Roman"/>
                        </a:defRPr>
                      </a:pPr>
                      <a:r>
                        <a:rPr dirty="0"/>
                        <a:t>Case progression and veterinary handoff</a:t>
                      </a:r>
                    </a:p>
                  </a:txBody>
                  <a:tcPr marL="118872" marR="118872" marT="109728" marB="73152" anchor="ctr">
                    <a:solidFill>
                      <a:srgbClr val="FFFFFF"/>
                    </a:solidFill>
                  </a:tcPr>
                </a:tc>
                <a:extLst>
                  <a:ext uri="{0D108BD9-81ED-4DB2-BD59-A6C34878D82A}">
                    <a16:rowId xmlns:a16="http://schemas.microsoft.com/office/drawing/2014/main" val="10003"/>
                  </a:ext>
                </a:extLst>
              </a:tr>
              <a:tr h="557784">
                <a:tc>
                  <a:txBody>
                    <a:bodyPr/>
                    <a:lstStyle/>
                    <a:p>
                      <a:pPr>
                        <a:lnSpc>
                          <a:spcPct val="105000"/>
                        </a:lnSpc>
                        <a:spcBef>
                          <a:spcPts val="0"/>
                        </a:spcBef>
                        <a:spcAft>
                          <a:spcPts val="0"/>
                        </a:spcAft>
                        <a:defRPr sz="2000" b="0">
                          <a:solidFill>
                            <a:srgbClr val="000000"/>
                          </a:solidFill>
                          <a:latin typeface="Times New Roman"/>
                        </a:defRPr>
                      </a:pPr>
                      <a:r>
                        <a:t>Limited rescue coordination</a:t>
                      </a:r>
                    </a:p>
                  </a:txBody>
                  <a:tcPr marL="118872" marR="118872" marT="109728" marB="73152" anchor="ctr">
                    <a:solidFill>
                      <a:srgbClr val="FFFFFF"/>
                    </a:solidFill>
                  </a:tcPr>
                </a:tc>
                <a:tc>
                  <a:txBody>
                    <a:bodyPr/>
                    <a:lstStyle/>
                    <a:p>
                      <a:pPr>
                        <a:lnSpc>
                          <a:spcPct val="105000"/>
                        </a:lnSpc>
                        <a:spcBef>
                          <a:spcPts val="0"/>
                        </a:spcBef>
                        <a:spcAft>
                          <a:spcPts val="0"/>
                        </a:spcAft>
                        <a:defRPr sz="2000" b="0">
                          <a:solidFill>
                            <a:srgbClr val="000000"/>
                          </a:solidFill>
                          <a:latin typeface="Times New Roman"/>
                        </a:defRPr>
                      </a:pPr>
                      <a:r>
                        <a:rPr dirty="0"/>
                        <a:t>Volunteer assignment and GPS reporting</a:t>
                      </a:r>
                    </a:p>
                  </a:txBody>
                  <a:tcPr marL="118872" marR="118872" marT="109728" marB="73152"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841248" y="5687568"/>
            <a:ext cx="10515600" cy="384048"/>
          </a:xfrm>
          <a:prstGeom prst="rect">
            <a:avLst/>
          </a:prstGeom>
          <a:noFill/>
          <a:effectLst/>
        </p:spPr>
        <p:txBody>
          <a:bodyPr wrap="square" lIns="0" tIns="0" rIns="0" bIns="0" anchor="t">
            <a:spAutoFit/>
          </a:bodyPr>
          <a:lstStyle/>
          <a:p>
            <a:pPr algn="l">
              <a:lnSpc>
                <a:spcPct val="112000"/>
              </a:lnSpc>
              <a:spcBef>
                <a:spcPts val="0"/>
              </a:spcBef>
              <a:spcAft>
                <a:spcPts val="0"/>
              </a:spcAft>
              <a:defRPr sz="2000" b="1">
                <a:solidFill>
                  <a:srgbClr val="000000"/>
                </a:solidFill>
                <a:latin typeface="Times New Roman"/>
              </a:defRPr>
            </a:pPr>
            <a:r>
              <a:rPr dirty="0"/>
              <a:t>Proposed contribution: clear ownership and traceable rescue-to-adoption case status.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Objectives:</a:t>
            </a:r>
          </a:p>
        </p:txBody>
      </p:sp>
      <p:sp>
        <p:nvSpPr>
          <p:cNvPr id="6" name="TextBox 5"/>
          <p:cNvSpPr txBox="1"/>
          <p:nvPr/>
        </p:nvSpPr>
        <p:spPr>
          <a:xfrm>
            <a:off x="877824" y="1399032"/>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t>
            </a:r>
          </a:p>
        </p:txBody>
      </p:sp>
      <p:sp>
        <p:nvSpPr>
          <p:cNvPr id="7" name="TextBox 6"/>
          <p:cNvSpPr txBox="1"/>
          <p:nvPr/>
        </p:nvSpPr>
        <p:spPr>
          <a:xfrm>
            <a:off x="1152144" y="1399032"/>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Create a centralized animal rescue network.</a:t>
            </a:r>
          </a:p>
        </p:txBody>
      </p:sp>
      <p:sp>
        <p:nvSpPr>
          <p:cNvPr id="8" name="TextBox 7"/>
          <p:cNvSpPr txBox="1"/>
          <p:nvPr/>
        </p:nvSpPr>
        <p:spPr>
          <a:xfrm>
            <a:off x="877824" y="2029967"/>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t>
            </a:r>
          </a:p>
        </p:txBody>
      </p:sp>
      <p:sp>
        <p:nvSpPr>
          <p:cNvPr id="9" name="TextBox 8"/>
          <p:cNvSpPr txBox="1"/>
          <p:nvPr/>
        </p:nvSpPr>
        <p:spPr>
          <a:xfrm>
            <a:off x="1152144" y="2029967"/>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Enable faster emergency response through location-based reporting.</a:t>
            </a:r>
          </a:p>
        </p:txBody>
      </p:sp>
      <p:sp>
        <p:nvSpPr>
          <p:cNvPr id="10" name="TextBox 9"/>
          <p:cNvSpPr txBox="1"/>
          <p:nvPr/>
        </p:nvSpPr>
        <p:spPr>
          <a:xfrm>
            <a:off x="877824" y="2660904"/>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t>
            </a:r>
          </a:p>
        </p:txBody>
      </p:sp>
      <p:sp>
        <p:nvSpPr>
          <p:cNvPr id="11" name="TextBox 10"/>
          <p:cNvSpPr txBox="1"/>
          <p:nvPr/>
        </p:nvSpPr>
        <p:spPr>
          <a:xfrm>
            <a:off x="1152144" y="2660904"/>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Improve volunteer coordination and case ownership.</a:t>
            </a:r>
          </a:p>
        </p:txBody>
      </p:sp>
      <p:sp>
        <p:nvSpPr>
          <p:cNvPr id="12" name="TextBox 11"/>
          <p:cNvSpPr txBox="1"/>
          <p:nvPr/>
        </p:nvSpPr>
        <p:spPr>
          <a:xfrm>
            <a:off x="877824" y="3291839"/>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t>
            </a:r>
          </a:p>
        </p:txBody>
      </p:sp>
      <p:sp>
        <p:nvSpPr>
          <p:cNvPr id="13" name="TextBox 12"/>
          <p:cNvSpPr txBox="1"/>
          <p:nvPr/>
        </p:nvSpPr>
        <p:spPr>
          <a:xfrm>
            <a:off x="1152144" y="3291839"/>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Support animal adoption through verified profiles and applications.</a:t>
            </a:r>
          </a:p>
        </p:txBody>
      </p:sp>
      <p:sp>
        <p:nvSpPr>
          <p:cNvPr id="14" name="TextBox 13"/>
          <p:cNvSpPr txBox="1"/>
          <p:nvPr/>
        </p:nvSpPr>
        <p:spPr>
          <a:xfrm>
            <a:off x="877824" y="3922776"/>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t>
            </a:r>
          </a:p>
        </p:txBody>
      </p:sp>
      <p:sp>
        <p:nvSpPr>
          <p:cNvPr id="15" name="TextBox 14"/>
          <p:cNvSpPr txBox="1"/>
          <p:nvPr/>
        </p:nvSpPr>
        <p:spPr>
          <a:xfrm>
            <a:off x="1152144" y="3922776"/>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Connect shelters, citizens and veterinarians.</a:t>
            </a:r>
          </a:p>
        </p:txBody>
      </p:sp>
      <p:sp>
        <p:nvSpPr>
          <p:cNvPr id="16" name="TextBox 15"/>
          <p:cNvSpPr txBox="1"/>
          <p:nvPr/>
        </p:nvSpPr>
        <p:spPr>
          <a:xfrm>
            <a:off x="877824" y="4553712"/>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t>
            </a:r>
          </a:p>
        </p:txBody>
      </p:sp>
      <p:sp>
        <p:nvSpPr>
          <p:cNvPr id="17" name="TextBox 16"/>
          <p:cNvSpPr txBox="1"/>
          <p:nvPr/>
        </p:nvSpPr>
        <p:spPr>
          <a:xfrm>
            <a:off x="1152144" y="4553712"/>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Improve animal welfare outcomes through continuity of care.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Proposed Methodology:</a:t>
            </a:r>
          </a:p>
        </p:txBody>
      </p:sp>
      <p:sp>
        <p:nvSpPr>
          <p:cNvPr id="6" name="TextBox 5"/>
          <p:cNvSpPr txBox="1"/>
          <p:nvPr/>
        </p:nvSpPr>
        <p:spPr>
          <a:xfrm>
            <a:off x="795528" y="1316736"/>
            <a:ext cx="10607040" cy="365760"/>
          </a:xfrm>
          <a:prstGeom prst="rect">
            <a:avLst/>
          </a:prstGeom>
          <a:noFill/>
          <a:effectLst/>
        </p:spPr>
        <p:txBody>
          <a:bodyPr wrap="square" lIns="0" tIns="0" rIns="0" bIns="0" anchor="t">
            <a:spAutoFit/>
          </a:bodyPr>
          <a:lstStyle/>
          <a:p>
            <a:pPr algn="l">
              <a:lnSpc>
                <a:spcPct val="112000"/>
              </a:lnSpc>
              <a:spcBef>
                <a:spcPts val="0"/>
              </a:spcBef>
              <a:spcAft>
                <a:spcPts val="0"/>
              </a:spcAft>
              <a:defRPr sz="2300" b="1">
                <a:solidFill>
                  <a:srgbClr val="000000"/>
                </a:solidFill>
                <a:latin typeface="Times New Roman"/>
              </a:defRPr>
            </a:pPr>
            <a:r>
              <a:t>Intake and Data Processing</a:t>
            </a:r>
          </a:p>
        </p:txBody>
      </p:sp>
      <p:sp>
        <p:nvSpPr>
          <p:cNvPr id="7" name="Rounded Rectangle 6"/>
          <p:cNvSpPr/>
          <p:nvPr/>
        </p:nvSpPr>
        <p:spPr>
          <a:xfrm>
            <a:off x="777240" y="1938528"/>
            <a:ext cx="1810512" cy="13441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886968" y="2148840"/>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Citizen</a:t>
            </a:r>
          </a:p>
        </p:txBody>
      </p:sp>
      <p:sp>
        <p:nvSpPr>
          <p:cNvPr id="9" name="TextBox 8"/>
          <p:cNvSpPr txBox="1"/>
          <p:nvPr/>
        </p:nvSpPr>
        <p:spPr>
          <a:xfrm>
            <a:off x="886968" y="2825496"/>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Start a case</a:t>
            </a:r>
          </a:p>
        </p:txBody>
      </p:sp>
      <p:sp>
        <p:nvSpPr>
          <p:cNvPr id="10" name="TextBox 9"/>
          <p:cNvSpPr txBox="1"/>
          <p:nvPr/>
        </p:nvSpPr>
        <p:spPr>
          <a:xfrm>
            <a:off x="896112" y="201168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1</a:t>
            </a:r>
          </a:p>
        </p:txBody>
      </p:sp>
      <p:sp>
        <p:nvSpPr>
          <p:cNvPr id="11" name="Rounded Rectangle 10"/>
          <p:cNvSpPr/>
          <p:nvPr/>
        </p:nvSpPr>
        <p:spPr>
          <a:xfrm>
            <a:off x="3063240" y="1938528"/>
            <a:ext cx="1810512" cy="13441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3172968" y="2148840"/>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Reports</a:t>
            </a:r>
          </a:p>
          <a:p>
            <a:pPr algn="ctr">
              <a:lnSpc>
                <a:spcPct val="112000"/>
              </a:lnSpc>
              <a:spcBef>
                <a:spcPts val="0"/>
              </a:spcBef>
              <a:spcAft>
                <a:spcPts val="0"/>
              </a:spcAft>
              <a:defRPr sz="2000" b="1">
                <a:solidFill>
                  <a:srgbClr val="000000"/>
                </a:solidFill>
                <a:latin typeface="Times New Roman"/>
              </a:defRPr>
            </a:pPr>
            <a:r>
              <a:t>Animal</a:t>
            </a:r>
          </a:p>
        </p:txBody>
      </p:sp>
      <p:sp>
        <p:nvSpPr>
          <p:cNvPr id="13" name="TextBox 12"/>
          <p:cNvSpPr txBox="1"/>
          <p:nvPr/>
        </p:nvSpPr>
        <p:spPr>
          <a:xfrm>
            <a:off x="3172968" y="2825496"/>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Describe the need</a:t>
            </a:r>
          </a:p>
        </p:txBody>
      </p:sp>
      <p:sp>
        <p:nvSpPr>
          <p:cNvPr id="14" name="TextBox 13"/>
          <p:cNvSpPr txBox="1"/>
          <p:nvPr/>
        </p:nvSpPr>
        <p:spPr>
          <a:xfrm>
            <a:off x="3182112" y="201168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2</a:t>
            </a:r>
          </a:p>
        </p:txBody>
      </p:sp>
      <p:sp>
        <p:nvSpPr>
          <p:cNvPr id="15" name="Rounded Rectangle 14"/>
          <p:cNvSpPr/>
          <p:nvPr/>
        </p:nvSpPr>
        <p:spPr>
          <a:xfrm>
            <a:off x="5349240" y="1938528"/>
            <a:ext cx="1810512" cy="13441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458968" y="2148840"/>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GPS Location</a:t>
            </a:r>
          </a:p>
          <a:p>
            <a:pPr algn="ctr">
              <a:lnSpc>
                <a:spcPct val="112000"/>
              </a:lnSpc>
              <a:spcBef>
                <a:spcPts val="0"/>
              </a:spcBef>
              <a:spcAft>
                <a:spcPts val="0"/>
              </a:spcAft>
              <a:defRPr sz="2000" b="1">
                <a:solidFill>
                  <a:srgbClr val="000000"/>
                </a:solidFill>
                <a:latin typeface="Times New Roman"/>
              </a:defRPr>
            </a:pPr>
            <a:r>
              <a:t>Captured</a:t>
            </a:r>
          </a:p>
        </p:txBody>
      </p:sp>
      <p:sp>
        <p:nvSpPr>
          <p:cNvPr id="17" name="TextBox 16"/>
          <p:cNvSpPr txBox="1"/>
          <p:nvPr/>
        </p:nvSpPr>
        <p:spPr>
          <a:xfrm>
            <a:off x="5458968" y="2825496"/>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Confirm location</a:t>
            </a:r>
          </a:p>
        </p:txBody>
      </p:sp>
      <p:sp>
        <p:nvSpPr>
          <p:cNvPr id="18" name="TextBox 17"/>
          <p:cNvSpPr txBox="1"/>
          <p:nvPr/>
        </p:nvSpPr>
        <p:spPr>
          <a:xfrm>
            <a:off x="5468112" y="201168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3</a:t>
            </a:r>
          </a:p>
        </p:txBody>
      </p:sp>
      <p:sp>
        <p:nvSpPr>
          <p:cNvPr id="19" name="Rounded Rectangle 18"/>
          <p:cNvSpPr/>
          <p:nvPr/>
        </p:nvSpPr>
        <p:spPr>
          <a:xfrm>
            <a:off x="7635240" y="1938528"/>
            <a:ext cx="1810512" cy="13441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744967" y="2148840"/>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FastAPI</a:t>
            </a:r>
          </a:p>
          <a:p>
            <a:pPr algn="ctr">
              <a:lnSpc>
                <a:spcPct val="112000"/>
              </a:lnSpc>
              <a:spcBef>
                <a:spcPts val="0"/>
              </a:spcBef>
              <a:spcAft>
                <a:spcPts val="0"/>
              </a:spcAft>
              <a:defRPr sz="2000" b="1">
                <a:solidFill>
                  <a:srgbClr val="000000"/>
                </a:solidFill>
                <a:latin typeface="Times New Roman"/>
              </a:defRPr>
            </a:pPr>
            <a:r>
              <a:t>Backend</a:t>
            </a:r>
          </a:p>
        </p:txBody>
      </p:sp>
      <p:sp>
        <p:nvSpPr>
          <p:cNvPr id="21" name="TextBox 20"/>
          <p:cNvSpPr txBox="1"/>
          <p:nvPr/>
        </p:nvSpPr>
        <p:spPr>
          <a:xfrm>
            <a:off x="7744967" y="2825496"/>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Validate request</a:t>
            </a:r>
          </a:p>
        </p:txBody>
      </p:sp>
      <p:sp>
        <p:nvSpPr>
          <p:cNvPr id="22" name="TextBox 21"/>
          <p:cNvSpPr txBox="1"/>
          <p:nvPr/>
        </p:nvSpPr>
        <p:spPr>
          <a:xfrm>
            <a:off x="7754112" y="201168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4</a:t>
            </a:r>
          </a:p>
        </p:txBody>
      </p:sp>
      <p:sp>
        <p:nvSpPr>
          <p:cNvPr id="23" name="Rounded Rectangle 22"/>
          <p:cNvSpPr/>
          <p:nvPr/>
        </p:nvSpPr>
        <p:spPr>
          <a:xfrm>
            <a:off x="9921240" y="1938528"/>
            <a:ext cx="1810512" cy="1344168"/>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10030967" y="2148840"/>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Firebase</a:t>
            </a:r>
          </a:p>
          <a:p>
            <a:pPr algn="ctr">
              <a:lnSpc>
                <a:spcPct val="112000"/>
              </a:lnSpc>
              <a:spcBef>
                <a:spcPts val="0"/>
              </a:spcBef>
              <a:spcAft>
                <a:spcPts val="0"/>
              </a:spcAft>
              <a:defRPr sz="2000" b="1">
                <a:solidFill>
                  <a:srgbClr val="000000"/>
                </a:solidFill>
                <a:latin typeface="Times New Roman"/>
              </a:defRPr>
            </a:pPr>
            <a:r>
              <a:t>Database</a:t>
            </a:r>
          </a:p>
        </p:txBody>
      </p:sp>
      <p:sp>
        <p:nvSpPr>
          <p:cNvPr id="25" name="TextBox 24"/>
          <p:cNvSpPr txBox="1"/>
          <p:nvPr/>
        </p:nvSpPr>
        <p:spPr>
          <a:xfrm>
            <a:off x="10030967" y="2825496"/>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Store in Firestore</a:t>
            </a:r>
          </a:p>
        </p:txBody>
      </p:sp>
      <p:sp>
        <p:nvSpPr>
          <p:cNvPr id="26" name="TextBox 25"/>
          <p:cNvSpPr txBox="1"/>
          <p:nvPr/>
        </p:nvSpPr>
        <p:spPr>
          <a:xfrm>
            <a:off x="10040112" y="201168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5</a:t>
            </a:r>
          </a:p>
        </p:txBody>
      </p:sp>
      <p:cxnSp>
        <p:nvCxnSpPr>
          <p:cNvPr id="27" name="Connector 26"/>
          <p:cNvCxnSpPr/>
          <p:nvPr/>
        </p:nvCxnSpPr>
        <p:spPr>
          <a:xfrm>
            <a:off x="2619756" y="2615184"/>
            <a:ext cx="406908"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4905756" y="2615184"/>
            <a:ext cx="406908"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7191756" y="2615184"/>
            <a:ext cx="406908"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9477756" y="2615184"/>
            <a:ext cx="406908"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10826496" y="3300984"/>
            <a:ext cx="0" cy="676655"/>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921240" y="4050791"/>
            <a:ext cx="1810512" cy="1344168"/>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10030967" y="4261104"/>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Shelter</a:t>
            </a:r>
          </a:p>
          <a:p>
            <a:pPr algn="ctr">
              <a:lnSpc>
                <a:spcPct val="112000"/>
              </a:lnSpc>
              <a:spcBef>
                <a:spcPts val="0"/>
              </a:spcBef>
              <a:spcAft>
                <a:spcPts val="0"/>
              </a:spcAft>
              <a:defRPr sz="2000" b="1">
                <a:solidFill>
                  <a:srgbClr val="000000"/>
                </a:solidFill>
                <a:latin typeface="Times New Roman"/>
              </a:defRPr>
            </a:pPr>
            <a:r>
              <a:t>Review</a:t>
            </a:r>
          </a:p>
        </p:txBody>
      </p:sp>
      <p:sp>
        <p:nvSpPr>
          <p:cNvPr id="34" name="TextBox 33"/>
          <p:cNvSpPr txBox="1"/>
          <p:nvPr/>
        </p:nvSpPr>
        <p:spPr>
          <a:xfrm>
            <a:off x="10030967" y="4937759"/>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Verify the report</a:t>
            </a:r>
          </a:p>
        </p:txBody>
      </p:sp>
      <p:sp>
        <p:nvSpPr>
          <p:cNvPr id="35" name="TextBox 34"/>
          <p:cNvSpPr txBox="1"/>
          <p:nvPr/>
        </p:nvSpPr>
        <p:spPr>
          <a:xfrm>
            <a:off x="10040112" y="412394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6</a:t>
            </a:r>
          </a:p>
        </p:txBody>
      </p:sp>
      <p:sp>
        <p:nvSpPr>
          <p:cNvPr id="36" name="Rounded Rectangle 35"/>
          <p:cNvSpPr/>
          <p:nvPr/>
        </p:nvSpPr>
        <p:spPr>
          <a:xfrm>
            <a:off x="7635240" y="4050791"/>
            <a:ext cx="1810512" cy="1344168"/>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7744967" y="4261104"/>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Volunteer</a:t>
            </a:r>
          </a:p>
          <a:p>
            <a:pPr algn="ctr">
              <a:lnSpc>
                <a:spcPct val="112000"/>
              </a:lnSpc>
              <a:spcBef>
                <a:spcPts val="0"/>
              </a:spcBef>
              <a:spcAft>
                <a:spcPts val="0"/>
              </a:spcAft>
              <a:defRPr sz="2000" b="1">
                <a:solidFill>
                  <a:srgbClr val="000000"/>
                </a:solidFill>
                <a:latin typeface="Times New Roman"/>
              </a:defRPr>
            </a:pPr>
            <a:r>
              <a:t>Assignment</a:t>
            </a:r>
          </a:p>
        </p:txBody>
      </p:sp>
      <p:sp>
        <p:nvSpPr>
          <p:cNvPr id="38" name="TextBox 37"/>
          <p:cNvSpPr txBox="1"/>
          <p:nvPr/>
        </p:nvSpPr>
        <p:spPr>
          <a:xfrm>
            <a:off x="7744967" y="4937759"/>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Assign a responder</a:t>
            </a:r>
          </a:p>
        </p:txBody>
      </p:sp>
      <p:sp>
        <p:nvSpPr>
          <p:cNvPr id="39" name="TextBox 38"/>
          <p:cNvSpPr txBox="1"/>
          <p:nvPr/>
        </p:nvSpPr>
        <p:spPr>
          <a:xfrm>
            <a:off x="7754112" y="412394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7</a:t>
            </a:r>
          </a:p>
        </p:txBody>
      </p:sp>
      <p:sp>
        <p:nvSpPr>
          <p:cNvPr id="40" name="Rounded Rectangle 39"/>
          <p:cNvSpPr/>
          <p:nvPr/>
        </p:nvSpPr>
        <p:spPr>
          <a:xfrm>
            <a:off x="5349240" y="4050791"/>
            <a:ext cx="1810512" cy="1344168"/>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458968" y="4261104"/>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Rescue</a:t>
            </a:r>
          </a:p>
          <a:p>
            <a:pPr algn="ctr">
              <a:lnSpc>
                <a:spcPct val="112000"/>
              </a:lnSpc>
              <a:spcBef>
                <a:spcPts val="0"/>
              </a:spcBef>
              <a:spcAft>
                <a:spcPts val="0"/>
              </a:spcAft>
              <a:defRPr sz="2000" b="1">
                <a:solidFill>
                  <a:srgbClr val="000000"/>
                </a:solidFill>
                <a:latin typeface="Times New Roman"/>
              </a:defRPr>
            </a:pPr>
            <a:r>
              <a:t>Operation</a:t>
            </a:r>
          </a:p>
        </p:txBody>
      </p:sp>
      <p:sp>
        <p:nvSpPr>
          <p:cNvPr id="42" name="TextBox 41"/>
          <p:cNvSpPr txBox="1"/>
          <p:nvPr/>
        </p:nvSpPr>
        <p:spPr>
          <a:xfrm>
            <a:off x="5458968" y="4937759"/>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Rescue the animal</a:t>
            </a:r>
          </a:p>
        </p:txBody>
      </p:sp>
      <p:sp>
        <p:nvSpPr>
          <p:cNvPr id="43" name="TextBox 42"/>
          <p:cNvSpPr txBox="1"/>
          <p:nvPr/>
        </p:nvSpPr>
        <p:spPr>
          <a:xfrm>
            <a:off x="5468112" y="412394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8</a:t>
            </a:r>
          </a:p>
        </p:txBody>
      </p:sp>
      <p:sp>
        <p:nvSpPr>
          <p:cNvPr id="44" name="Rounded Rectangle 43"/>
          <p:cNvSpPr/>
          <p:nvPr/>
        </p:nvSpPr>
        <p:spPr>
          <a:xfrm>
            <a:off x="3063240" y="4050791"/>
            <a:ext cx="1810512" cy="1344168"/>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3172968" y="4261104"/>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Animal</a:t>
            </a:r>
          </a:p>
          <a:p>
            <a:pPr algn="ctr">
              <a:lnSpc>
                <a:spcPct val="112000"/>
              </a:lnSpc>
              <a:spcBef>
                <a:spcPts val="0"/>
              </a:spcBef>
              <a:spcAft>
                <a:spcPts val="0"/>
              </a:spcAft>
              <a:defRPr sz="2000" b="1">
                <a:solidFill>
                  <a:srgbClr val="000000"/>
                </a:solidFill>
                <a:latin typeface="Times New Roman"/>
              </a:defRPr>
            </a:pPr>
            <a:r>
              <a:t>Treatment</a:t>
            </a:r>
          </a:p>
        </p:txBody>
      </p:sp>
      <p:sp>
        <p:nvSpPr>
          <p:cNvPr id="46" name="TextBox 45"/>
          <p:cNvSpPr txBox="1"/>
          <p:nvPr/>
        </p:nvSpPr>
        <p:spPr>
          <a:xfrm>
            <a:off x="3172968" y="4937759"/>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Record care</a:t>
            </a:r>
          </a:p>
        </p:txBody>
      </p:sp>
      <p:sp>
        <p:nvSpPr>
          <p:cNvPr id="47" name="TextBox 46"/>
          <p:cNvSpPr txBox="1"/>
          <p:nvPr/>
        </p:nvSpPr>
        <p:spPr>
          <a:xfrm>
            <a:off x="3182112" y="412394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9</a:t>
            </a:r>
          </a:p>
        </p:txBody>
      </p:sp>
      <p:sp>
        <p:nvSpPr>
          <p:cNvPr id="48" name="Rounded Rectangle 47"/>
          <p:cNvSpPr/>
          <p:nvPr/>
        </p:nvSpPr>
        <p:spPr>
          <a:xfrm>
            <a:off x="777240" y="4050791"/>
            <a:ext cx="1810512" cy="1344168"/>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886968" y="4261104"/>
            <a:ext cx="1591056"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Adoption</a:t>
            </a:r>
          </a:p>
          <a:p>
            <a:pPr algn="ctr">
              <a:lnSpc>
                <a:spcPct val="112000"/>
              </a:lnSpc>
              <a:spcBef>
                <a:spcPts val="0"/>
              </a:spcBef>
              <a:spcAft>
                <a:spcPts val="0"/>
              </a:spcAft>
              <a:defRPr sz="2000" b="1">
                <a:solidFill>
                  <a:srgbClr val="000000"/>
                </a:solidFill>
                <a:latin typeface="Times New Roman"/>
              </a:defRPr>
            </a:pPr>
            <a:r>
              <a:t>Module</a:t>
            </a:r>
          </a:p>
        </p:txBody>
      </p:sp>
      <p:sp>
        <p:nvSpPr>
          <p:cNvPr id="50" name="TextBox 49"/>
          <p:cNvSpPr txBox="1"/>
          <p:nvPr/>
        </p:nvSpPr>
        <p:spPr>
          <a:xfrm>
            <a:off x="886968" y="4937759"/>
            <a:ext cx="159105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List when suitable</a:t>
            </a:r>
          </a:p>
        </p:txBody>
      </p:sp>
      <p:sp>
        <p:nvSpPr>
          <p:cNvPr id="51" name="TextBox 50"/>
          <p:cNvSpPr txBox="1"/>
          <p:nvPr/>
        </p:nvSpPr>
        <p:spPr>
          <a:xfrm>
            <a:off x="896112" y="412394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10</a:t>
            </a:r>
          </a:p>
        </p:txBody>
      </p:sp>
      <p:cxnSp>
        <p:nvCxnSpPr>
          <p:cNvPr id="52" name="Connector 51"/>
          <p:cNvCxnSpPr/>
          <p:nvPr/>
        </p:nvCxnSpPr>
        <p:spPr>
          <a:xfrm flipH="1">
            <a:off x="9482328" y="4718304"/>
            <a:ext cx="406908" cy="0"/>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a:off x="7196328" y="4718304"/>
            <a:ext cx="406908" cy="0"/>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a:off x="4910328" y="4718304"/>
            <a:ext cx="406908" cy="0"/>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flipH="1">
            <a:off x="2624328" y="4718304"/>
            <a:ext cx="406908" cy="0"/>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6" name="TextBox 55"/>
          <p:cNvSpPr txBox="1"/>
          <p:nvPr/>
        </p:nvSpPr>
        <p:spPr>
          <a:xfrm>
            <a:off x="804672" y="5806440"/>
            <a:ext cx="10579608" cy="338328"/>
          </a:xfrm>
          <a:prstGeom prst="rect">
            <a:avLst/>
          </a:prstGeom>
          <a:noFill/>
          <a:effectLst/>
        </p:spPr>
        <p:txBody>
          <a:bodyPr wrap="square" lIns="0" tIns="0" rIns="0" bIns="0" anchor="t">
            <a:spAutoFit/>
          </a:bodyPr>
          <a:lstStyle/>
          <a:p>
            <a:pPr algn="l">
              <a:lnSpc>
                <a:spcPct val="112000"/>
              </a:lnSpc>
              <a:spcBef>
                <a:spcPts val="0"/>
              </a:spcBef>
              <a:spcAft>
                <a:spcPts val="0"/>
              </a:spcAft>
              <a:defRPr sz="2300" b="1">
                <a:solidFill>
                  <a:srgbClr val="000000"/>
                </a:solidFill>
                <a:latin typeface="Times New Roman"/>
              </a:defRPr>
            </a:pPr>
            <a:r>
              <a:t>Shelter Coordination, Treatment and Adoption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System Architecture:</a:t>
            </a:r>
          </a:p>
        </p:txBody>
      </p:sp>
      <p:sp>
        <p:nvSpPr>
          <p:cNvPr id="6" name="TextBox 5"/>
          <p:cNvSpPr txBox="1"/>
          <p:nvPr/>
        </p:nvSpPr>
        <p:spPr>
          <a:xfrm>
            <a:off x="795528" y="1408176"/>
            <a:ext cx="1783080"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2100" b="1">
                <a:solidFill>
                  <a:srgbClr val="000000"/>
                </a:solidFill>
                <a:latin typeface="Times New Roman"/>
              </a:defRPr>
            </a:pPr>
            <a:r>
              <a:t>Users</a:t>
            </a:r>
          </a:p>
        </p:txBody>
      </p:sp>
      <p:sp>
        <p:nvSpPr>
          <p:cNvPr id="7" name="TextBox 6"/>
          <p:cNvSpPr txBox="1"/>
          <p:nvPr/>
        </p:nvSpPr>
        <p:spPr>
          <a:xfrm>
            <a:off x="2788920" y="1408176"/>
            <a:ext cx="222199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2100" b="1">
                <a:solidFill>
                  <a:srgbClr val="000000"/>
                </a:solidFill>
                <a:latin typeface="Times New Roman"/>
              </a:defRPr>
            </a:pPr>
            <a:r>
              <a:t>Frontend</a:t>
            </a:r>
          </a:p>
        </p:txBody>
      </p:sp>
      <p:sp>
        <p:nvSpPr>
          <p:cNvPr id="8" name="TextBox 7"/>
          <p:cNvSpPr txBox="1"/>
          <p:nvPr/>
        </p:nvSpPr>
        <p:spPr>
          <a:xfrm>
            <a:off x="5632704" y="1408176"/>
            <a:ext cx="2779776"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2100" b="1">
                <a:solidFill>
                  <a:srgbClr val="000000"/>
                </a:solidFill>
                <a:latin typeface="Times New Roman"/>
              </a:defRPr>
            </a:pPr>
            <a:r>
              <a:t>Backend</a:t>
            </a:r>
          </a:p>
        </p:txBody>
      </p:sp>
      <p:sp>
        <p:nvSpPr>
          <p:cNvPr id="9" name="TextBox 8"/>
          <p:cNvSpPr txBox="1"/>
          <p:nvPr/>
        </p:nvSpPr>
        <p:spPr>
          <a:xfrm>
            <a:off x="9070848" y="1408176"/>
            <a:ext cx="2606040"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2100" b="1">
                <a:solidFill>
                  <a:srgbClr val="000000"/>
                </a:solidFill>
                <a:latin typeface="Times New Roman"/>
              </a:defRPr>
            </a:pPr>
            <a:r>
              <a:t>Database</a:t>
            </a:r>
          </a:p>
        </p:txBody>
      </p:sp>
      <p:sp>
        <p:nvSpPr>
          <p:cNvPr id="10" name="Rounded Rectangle 9"/>
          <p:cNvSpPr/>
          <p:nvPr/>
        </p:nvSpPr>
        <p:spPr>
          <a:xfrm>
            <a:off x="795528" y="2057400"/>
            <a:ext cx="1719072" cy="566928"/>
          </a:xfrm>
          <a:prstGeom prst="roundRect">
            <a:avLst>
              <a:gd name="adj" fmla="val 12000"/>
            </a:avLst>
          </a:prstGeom>
          <a:solidFill>
            <a:srgbClr val="FFFFFF"/>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905256" y="2148840"/>
            <a:ext cx="1499616" cy="384048"/>
          </a:xfrm>
          <a:prstGeom prst="rect">
            <a:avLst/>
          </a:prstGeom>
          <a:noFill/>
          <a:effectLst/>
        </p:spPr>
        <p:txBody>
          <a:bodyPr wrap="square" lIns="0" tIns="0" rIns="0" bIns="0" anchor="ctr">
            <a:spAutoFit/>
          </a:bodyPr>
          <a:lstStyle/>
          <a:p>
            <a:pPr algn="ctr">
              <a:lnSpc>
                <a:spcPct val="112000"/>
              </a:lnSpc>
              <a:spcBef>
                <a:spcPts val="0"/>
              </a:spcBef>
              <a:spcAft>
                <a:spcPts val="0"/>
              </a:spcAft>
              <a:defRPr sz="1900" b="0">
                <a:solidFill>
                  <a:srgbClr val="000000"/>
                </a:solidFill>
                <a:latin typeface="Times New Roman"/>
              </a:defRPr>
            </a:pPr>
            <a:r>
              <a:t>Citizen</a:t>
            </a:r>
          </a:p>
        </p:txBody>
      </p:sp>
      <p:cxnSp>
        <p:nvCxnSpPr>
          <p:cNvPr id="12" name="Connector 11"/>
          <p:cNvCxnSpPr/>
          <p:nvPr/>
        </p:nvCxnSpPr>
        <p:spPr>
          <a:xfrm>
            <a:off x="2514600" y="2340864"/>
            <a:ext cx="109728" cy="0"/>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795528" y="2779776"/>
            <a:ext cx="1719072" cy="566928"/>
          </a:xfrm>
          <a:prstGeom prst="roundRect">
            <a:avLst>
              <a:gd name="adj" fmla="val 12000"/>
            </a:avLst>
          </a:prstGeom>
          <a:solidFill>
            <a:srgbClr val="FFFFFF"/>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05256" y="2871216"/>
            <a:ext cx="1499616" cy="384048"/>
          </a:xfrm>
          <a:prstGeom prst="rect">
            <a:avLst/>
          </a:prstGeom>
          <a:noFill/>
          <a:effectLst/>
        </p:spPr>
        <p:txBody>
          <a:bodyPr wrap="square" lIns="0" tIns="0" rIns="0" bIns="0" anchor="ctr">
            <a:spAutoFit/>
          </a:bodyPr>
          <a:lstStyle/>
          <a:p>
            <a:pPr algn="ctr">
              <a:lnSpc>
                <a:spcPct val="112000"/>
              </a:lnSpc>
              <a:spcBef>
                <a:spcPts val="0"/>
              </a:spcBef>
              <a:spcAft>
                <a:spcPts val="0"/>
              </a:spcAft>
              <a:defRPr sz="1900" b="0">
                <a:solidFill>
                  <a:srgbClr val="000000"/>
                </a:solidFill>
                <a:latin typeface="Times New Roman"/>
              </a:defRPr>
            </a:pPr>
            <a:r>
              <a:t>Volunteer</a:t>
            </a:r>
          </a:p>
        </p:txBody>
      </p:sp>
      <p:cxnSp>
        <p:nvCxnSpPr>
          <p:cNvPr id="15" name="Connector 14"/>
          <p:cNvCxnSpPr/>
          <p:nvPr/>
        </p:nvCxnSpPr>
        <p:spPr>
          <a:xfrm>
            <a:off x="2514600" y="3063240"/>
            <a:ext cx="109728" cy="0"/>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795528" y="3502152"/>
            <a:ext cx="1719072" cy="566928"/>
          </a:xfrm>
          <a:prstGeom prst="roundRect">
            <a:avLst>
              <a:gd name="adj" fmla="val 12000"/>
            </a:avLst>
          </a:prstGeom>
          <a:solidFill>
            <a:srgbClr val="FFFFFF"/>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905256" y="3593592"/>
            <a:ext cx="1499616" cy="384048"/>
          </a:xfrm>
          <a:prstGeom prst="rect">
            <a:avLst/>
          </a:prstGeom>
          <a:noFill/>
          <a:effectLst/>
        </p:spPr>
        <p:txBody>
          <a:bodyPr wrap="square" lIns="0" tIns="0" rIns="0" bIns="0" anchor="ctr">
            <a:spAutoFit/>
          </a:bodyPr>
          <a:lstStyle/>
          <a:p>
            <a:pPr algn="ctr">
              <a:lnSpc>
                <a:spcPct val="112000"/>
              </a:lnSpc>
              <a:spcBef>
                <a:spcPts val="0"/>
              </a:spcBef>
              <a:spcAft>
                <a:spcPts val="0"/>
              </a:spcAft>
              <a:defRPr sz="1900" b="0">
                <a:solidFill>
                  <a:srgbClr val="000000"/>
                </a:solidFill>
                <a:latin typeface="Times New Roman"/>
              </a:defRPr>
            </a:pPr>
            <a:r>
              <a:t>Shelter</a:t>
            </a:r>
          </a:p>
        </p:txBody>
      </p:sp>
      <p:cxnSp>
        <p:nvCxnSpPr>
          <p:cNvPr id="18" name="Connector 17"/>
          <p:cNvCxnSpPr/>
          <p:nvPr/>
        </p:nvCxnSpPr>
        <p:spPr>
          <a:xfrm>
            <a:off x="2514600" y="3785615"/>
            <a:ext cx="109728" cy="0"/>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95528" y="4224528"/>
            <a:ext cx="1719072" cy="566928"/>
          </a:xfrm>
          <a:prstGeom prst="roundRect">
            <a:avLst>
              <a:gd name="adj" fmla="val 12000"/>
            </a:avLst>
          </a:prstGeom>
          <a:solidFill>
            <a:srgbClr val="FFFFFF"/>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905256" y="4315968"/>
            <a:ext cx="1499616" cy="384048"/>
          </a:xfrm>
          <a:prstGeom prst="rect">
            <a:avLst/>
          </a:prstGeom>
          <a:noFill/>
          <a:effectLst/>
        </p:spPr>
        <p:txBody>
          <a:bodyPr wrap="square" lIns="0" tIns="0" rIns="0" bIns="0" anchor="ctr">
            <a:spAutoFit/>
          </a:bodyPr>
          <a:lstStyle/>
          <a:p>
            <a:pPr algn="ctr">
              <a:lnSpc>
                <a:spcPct val="112000"/>
              </a:lnSpc>
              <a:spcBef>
                <a:spcPts val="0"/>
              </a:spcBef>
              <a:spcAft>
                <a:spcPts val="0"/>
              </a:spcAft>
              <a:defRPr sz="1900" b="0">
                <a:solidFill>
                  <a:srgbClr val="000000"/>
                </a:solidFill>
                <a:latin typeface="Times New Roman"/>
              </a:defRPr>
            </a:pPr>
            <a:r>
              <a:rPr dirty="0"/>
              <a:t>Veterinarian</a:t>
            </a:r>
          </a:p>
        </p:txBody>
      </p:sp>
      <p:cxnSp>
        <p:nvCxnSpPr>
          <p:cNvPr id="21" name="Connector 20"/>
          <p:cNvCxnSpPr/>
          <p:nvPr/>
        </p:nvCxnSpPr>
        <p:spPr>
          <a:xfrm>
            <a:off x="2514600" y="4507992"/>
            <a:ext cx="109728" cy="0"/>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2624328" y="2340864"/>
            <a:ext cx="0" cy="2176272"/>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624328" y="3429000"/>
            <a:ext cx="164592"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2788920" y="2029968"/>
            <a:ext cx="2221992" cy="3282696"/>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2898648" y="2121408"/>
            <a:ext cx="2002536" cy="3099815"/>
          </a:xfrm>
          <a:prstGeom prst="rect">
            <a:avLst/>
          </a:prstGeom>
          <a:noFill/>
          <a:effectLst/>
        </p:spPr>
        <p:txBody>
          <a:bodyPr wrap="square" lIns="0" tIns="0" rIns="0" bIns="0" anchor="ctr">
            <a:spAutoFit/>
          </a:bodyPr>
          <a:lstStyle/>
          <a:p>
            <a:pPr algn="ctr">
              <a:lnSpc>
                <a:spcPct val="112000"/>
              </a:lnSpc>
              <a:spcBef>
                <a:spcPts val="0"/>
              </a:spcBef>
              <a:spcAft>
                <a:spcPts val="0"/>
              </a:spcAft>
              <a:defRPr sz="2100" b="0">
                <a:solidFill>
                  <a:srgbClr val="000000"/>
                </a:solidFill>
                <a:latin typeface="Times New Roman"/>
              </a:defRPr>
            </a:pPr>
            <a:endParaRPr/>
          </a:p>
        </p:txBody>
      </p:sp>
      <p:sp>
        <p:nvSpPr>
          <p:cNvPr id="26" name="TextBox 25"/>
          <p:cNvSpPr txBox="1"/>
          <p:nvPr/>
        </p:nvSpPr>
        <p:spPr>
          <a:xfrm>
            <a:off x="2916936" y="2359152"/>
            <a:ext cx="1965960" cy="566928"/>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Web Application</a:t>
            </a:r>
          </a:p>
        </p:txBody>
      </p:sp>
      <p:sp>
        <p:nvSpPr>
          <p:cNvPr id="27" name="TextBox 26"/>
          <p:cNvSpPr txBox="1"/>
          <p:nvPr/>
        </p:nvSpPr>
        <p:spPr>
          <a:xfrm>
            <a:off x="3008376" y="3227832"/>
            <a:ext cx="1801368" cy="1109022"/>
          </a:xfrm>
          <a:prstGeom prst="rect">
            <a:avLst/>
          </a:prstGeom>
          <a:noFill/>
          <a:effectLst/>
        </p:spPr>
        <p:txBody>
          <a:bodyPr wrap="square" lIns="0" tIns="0" rIns="0" bIns="0" anchor="t">
            <a:spAutoFit/>
          </a:bodyPr>
          <a:lstStyle/>
          <a:p>
            <a:pPr algn="ctr">
              <a:lnSpc>
                <a:spcPct val="112000"/>
              </a:lnSpc>
              <a:spcBef>
                <a:spcPts val="0"/>
              </a:spcBef>
              <a:spcAft>
                <a:spcPts val="0"/>
              </a:spcAft>
              <a:defRPr sz="2200" b="0">
                <a:solidFill>
                  <a:srgbClr val="000000"/>
                </a:solidFill>
                <a:latin typeface="Times New Roman"/>
              </a:defRPr>
            </a:pPr>
            <a:r>
              <a:rPr lang="en-US" dirty="0"/>
              <a:t>JavaScript</a:t>
            </a:r>
            <a:endParaRPr dirty="0"/>
          </a:p>
          <a:p>
            <a:pPr algn="ctr">
              <a:lnSpc>
                <a:spcPct val="112000"/>
              </a:lnSpc>
              <a:spcBef>
                <a:spcPts val="0"/>
              </a:spcBef>
              <a:spcAft>
                <a:spcPts val="0"/>
              </a:spcAft>
              <a:defRPr sz="2200" b="0">
                <a:solidFill>
                  <a:srgbClr val="000000"/>
                </a:solidFill>
                <a:latin typeface="Times New Roman"/>
              </a:defRPr>
            </a:pPr>
            <a:r>
              <a:rPr dirty="0"/>
              <a:t>Vite</a:t>
            </a:r>
          </a:p>
          <a:p>
            <a:pPr algn="ctr">
              <a:lnSpc>
                <a:spcPct val="112000"/>
              </a:lnSpc>
              <a:spcBef>
                <a:spcPts val="0"/>
              </a:spcBef>
              <a:spcAft>
                <a:spcPts val="0"/>
              </a:spcAft>
              <a:defRPr sz="2200" b="0">
                <a:solidFill>
                  <a:srgbClr val="000000"/>
                </a:solidFill>
                <a:latin typeface="Times New Roman"/>
              </a:defRPr>
            </a:pPr>
            <a:endParaRPr dirty="0"/>
          </a:p>
        </p:txBody>
      </p:sp>
      <p:sp>
        <p:nvSpPr>
          <p:cNvPr id="28" name="TextBox 27"/>
          <p:cNvSpPr txBox="1"/>
          <p:nvPr/>
        </p:nvSpPr>
        <p:spPr>
          <a:xfrm>
            <a:off x="3008376" y="4690872"/>
            <a:ext cx="1801368" cy="365760"/>
          </a:xfrm>
          <a:prstGeom prst="rect">
            <a:avLst/>
          </a:prstGeom>
          <a:noFill/>
          <a:effectLst/>
        </p:spPr>
        <p:txBody>
          <a:bodyPr wrap="square" lIns="0" tIns="0" rIns="0" bIns="0" anchor="t">
            <a:spAutoFit/>
          </a:bodyPr>
          <a:lstStyle/>
          <a:p>
            <a:pPr algn="ctr">
              <a:lnSpc>
                <a:spcPct val="112000"/>
              </a:lnSpc>
              <a:spcBef>
                <a:spcPts val="0"/>
              </a:spcBef>
              <a:spcAft>
                <a:spcPts val="0"/>
              </a:spcAft>
              <a:defRPr sz="1800" b="0">
                <a:solidFill>
                  <a:srgbClr val="000000"/>
                </a:solidFill>
                <a:latin typeface="Times New Roman"/>
              </a:defRPr>
            </a:pPr>
            <a:r>
              <a:t>GPS / Location</a:t>
            </a:r>
          </a:p>
        </p:txBody>
      </p:sp>
      <p:cxnSp>
        <p:nvCxnSpPr>
          <p:cNvPr id="29" name="Connector 28"/>
          <p:cNvCxnSpPr/>
          <p:nvPr/>
        </p:nvCxnSpPr>
        <p:spPr>
          <a:xfrm>
            <a:off x="5010912" y="2880360"/>
            <a:ext cx="621792"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5010912" y="2295144"/>
            <a:ext cx="621792" cy="457200"/>
          </a:xfrm>
          <a:prstGeom prst="rect">
            <a:avLst/>
          </a:prstGeom>
          <a:noFill/>
          <a:effectLst/>
        </p:spPr>
        <p:txBody>
          <a:bodyPr wrap="square" lIns="0" tIns="0" rIns="0" bIns="0" anchor="t">
            <a:spAutoFit/>
          </a:bodyPr>
          <a:lstStyle/>
          <a:p>
            <a:pPr algn="ctr">
              <a:lnSpc>
                <a:spcPct val="112000"/>
              </a:lnSpc>
              <a:spcBef>
                <a:spcPts val="0"/>
              </a:spcBef>
              <a:spcAft>
                <a:spcPts val="0"/>
              </a:spcAft>
              <a:defRPr sz="1200" b="0">
                <a:solidFill>
                  <a:srgbClr val="000000"/>
                </a:solidFill>
                <a:latin typeface="Times New Roman"/>
              </a:defRPr>
            </a:pPr>
            <a:r>
              <a:t>HTTPS</a:t>
            </a:r>
          </a:p>
          <a:p>
            <a:pPr algn="ctr">
              <a:lnSpc>
                <a:spcPct val="112000"/>
              </a:lnSpc>
              <a:spcBef>
                <a:spcPts val="0"/>
              </a:spcBef>
              <a:spcAft>
                <a:spcPts val="0"/>
              </a:spcAft>
              <a:defRPr sz="1200" b="0">
                <a:solidFill>
                  <a:srgbClr val="000000"/>
                </a:solidFill>
                <a:latin typeface="Times New Roman"/>
              </a:defRPr>
            </a:pPr>
            <a:r>
              <a:t>+ JWT</a:t>
            </a:r>
          </a:p>
        </p:txBody>
      </p:sp>
      <p:cxnSp>
        <p:nvCxnSpPr>
          <p:cNvPr id="31" name="Connector 30"/>
          <p:cNvCxnSpPr/>
          <p:nvPr/>
        </p:nvCxnSpPr>
        <p:spPr>
          <a:xfrm flipH="1">
            <a:off x="5010912" y="4718304"/>
            <a:ext cx="621792" cy="0"/>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5029200" y="4928616"/>
            <a:ext cx="585216" cy="201168"/>
          </a:xfrm>
          <a:prstGeom prst="rect">
            <a:avLst/>
          </a:prstGeom>
          <a:noFill/>
          <a:effectLst/>
        </p:spPr>
        <p:txBody>
          <a:bodyPr wrap="square" lIns="0" tIns="0" rIns="0" bIns="0" anchor="t">
            <a:spAutoFit/>
          </a:bodyPr>
          <a:lstStyle/>
          <a:p>
            <a:pPr algn="ctr">
              <a:lnSpc>
                <a:spcPct val="112000"/>
              </a:lnSpc>
              <a:spcBef>
                <a:spcPts val="0"/>
              </a:spcBef>
              <a:spcAft>
                <a:spcPts val="0"/>
              </a:spcAft>
              <a:defRPr sz="1200" b="0">
                <a:solidFill>
                  <a:srgbClr val="000000"/>
                </a:solidFill>
                <a:latin typeface="Times New Roman"/>
              </a:defRPr>
            </a:pPr>
            <a:r>
              <a:t>JSON</a:t>
            </a:r>
          </a:p>
        </p:txBody>
      </p:sp>
      <p:sp>
        <p:nvSpPr>
          <p:cNvPr id="33" name="Rounded Rectangle 32"/>
          <p:cNvSpPr/>
          <p:nvPr/>
        </p:nvSpPr>
        <p:spPr>
          <a:xfrm>
            <a:off x="5632704" y="2029968"/>
            <a:ext cx="2779776" cy="3282696"/>
          </a:xfrm>
          <a:prstGeom prst="roundRect">
            <a:avLst>
              <a:gd name="adj" fmla="val 12000"/>
            </a:avLst>
          </a:prstGeom>
          <a:solidFill>
            <a:srgbClr val="FFFFFF"/>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5742432" y="2121408"/>
            <a:ext cx="2560320" cy="3099815"/>
          </a:xfrm>
          <a:prstGeom prst="rect">
            <a:avLst/>
          </a:prstGeom>
          <a:noFill/>
          <a:effectLst/>
        </p:spPr>
        <p:txBody>
          <a:bodyPr wrap="square" lIns="0" tIns="0" rIns="0" bIns="0" anchor="ctr">
            <a:spAutoFit/>
          </a:bodyPr>
          <a:lstStyle/>
          <a:p>
            <a:pPr algn="ctr">
              <a:lnSpc>
                <a:spcPct val="112000"/>
              </a:lnSpc>
              <a:spcBef>
                <a:spcPts val="0"/>
              </a:spcBef>
              <a:spcAft>
                <a:spcPts val="0"/>
              </a:spcAft>
              <a:defRPr sz="2100" b="0">
                <a:solidFill>
                  <a:srgbClr val="000000"/>
                </a:solidFill>
                <a:latin typeface="Times New Roman"/>
              </a:defRPr>
            </a:pPr>
            <a:endParaRPr/>
          </a:p>
        </p:txBody>
      </p:sp>
      <p:sp>
        <p:nvSpPr>
          <p:cNvPr id="35" name="TextBox 34"/>
          <p:cNvSpPr txBox="1"/>
          <p:nvPr/>
        </p:nvSpPr>
        <p:spPr>
          <a:xfrm>
            <a:off x="5861304" y="2295144"/>
            <a:ext cx="2322576" cy="384048"/>
          </a:xfrm>
          <a:prstGeom prst="rect">
            <a:avLst/>
          </a:prstGeom>
          <a:noFill/>
          <a:effectLst/>
        </p:spPr>
        <p:txBody>
          <a:bodyPr wrap="square" lIns="0" tIns="0" rIns="0" bIns="0" anchor="t">
            <a:spAutoFit/>
          </a:bodyPr>
          <a:lstStyle/>
          <a:p>
            <a:pPr algn="ctr">
              <a:lnSpc>
                <a:spcPct val="112000"/>
              </a:lnSpc>
              <a:spcBef>
                <a:spcPts val="0"/>
              </a:spcBef>
              <a:spcAft>
                <a:spcPts val="0"/>
              </a:spcAft>
              <a:defRPr sz="2500" b="1">
                <a:solidFill>
                  <a:srgbClr val="000000"/>
                </a:solidFill>
                <a:latin typeface="Times New Roman"/>
              </a:defRPr>
            </a:pPr>
            <a:r>
              <a:t>FastAPI</a:t>
            </a:r>
          </a:p>
        </p:txBody>
      </p:sp>
      <p:sp>
        <p:nvSpPr>
          <p:cNvPr id="36" name="TextBox 35"/>
          <p:cNvSpPr txBox="1"/>
          <p:nvPr/>
        </p:nvSpPr>
        <p:spPr>
          <a:xfrm>
            <a:off x="5843016" y="2862072"/>
            <a:ext cx="2359152" cy="365760"/>
          </a:xfrm>
          <a:prstGeom prst="rect">
            <a:avLst/>
          </a:prstGeom>
          <a:noFill/>
          <a:effectLst/>
        </p:spPr>
        <p:txBody>
          <a:bodyPr wrap="square" lIns="0" tIns="0" rIns="0" bIns="0" anchor="t">
            <a:spAutoFit/>
          </a:bodyPr>
          <a:lstStyle/>
          <a:p>
            <a:pPr algn="ctr">
              <a:lnSpc>
                <a:spcPct val="112000"/>
              </a:lnSpc>
              <a:spcBef>
                <a:spcPts val="0"/>
              </a:spcBef>
              <a:spcAft>
                <a:spcPts val="0"/>
              </a:spcAft>
              <a:defRPr sz="1900" b="1">
                <a:solidFill>
                  <a:srgbClr val="000000"/>
                </a:solidFill>
                <a:latin typeface="Times New Roman"/>
              </a:defRPr>
            </a:pPr>
            <a:r>
              <a:rPr dirty="0"/>
              <a:t>JWT issue / verify</a:t>
            </a:r>
          </a:p>
        </p:txBody>
      </p:sp>
      <p:sp>
        <p:nvSpPr>
          <p:cNvPr id="37" name="TextBox 36"/>
          <p:cNvSpPr txBox="1"/>
          <p:nvPr/>
        </p:nvSpPr>
        <p:spPr>
          <a:xfrm>
            <a:off x="5779008" y="3355848"/>
            <a:ext cx="2487168" cy="292608"/>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rPr dirty="0"/>
              <a:t>Signature • Expiry • Roles</a:t>
            </a:r>
          </a:p>
        </p:txBody>
      </p:sp>
      <p:cxnSp>
        <p:nvCxnSpPr>
          <p:cNvPr id="38" name="Connector 37"/>
          <p:cNvCxnSpPr/>
          <p:nvPr/>
        </p:nvCxnSpPr>
        <p:spPr>
          <a:xfrm>
            <a:off x="5806440" y="3794760"/>
            <a:ext cx="2414016" cy="0"/>
          </a:xfrm>
          <a:prstGeom prst="line">
            <a:avLst/>
          </a:prstGeom>
          <a:ln w="8890">
            <a:solidFill>
              <a:srgbClr val="BFC8CE"/>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5815584" y="4123944"/>
            <a:ext cx="2414016" cy="886968"/>
          </a:xfrm>
          <a:prstGeom prst="rect">
            <a:avLst/>
          </a:prstGeom>
          <a:noFill/>
          <a:effectLst/>
        </p:spPr>
        <p:txBody>
          <a:bodyPr wrap="square" lIns="0" tIns="0" rIns="0" bIns="0" anchor="t">
            <a:spAutoFit/>
          </a:bodyPr>
          <a:lstStyle/>
          <a:p>
            <a:pPr algn="ctr">
              <a:lnSpc>
                <a:spcPct val="112000"/>
              </a:lnSpc>
              <a:spcBef>
                <a:spcPts val="0"/>
              </a:spcBef>
              <a:spcAft>
                <a:spcPts val="0"/>
              </a:spcAft>
              <a:defRPr sz="1800" b="0">
                <a:solidFill>
                  <a:srgbClr val="000000"/>
                </a:solidFill>
                <a:latin typeface="Times New Roman"/>
              </a:defRPr>
            </a:pPr>
            <a:r>
              <a:t>Rescue and Assignment</a:t>
            </a:r>
          </a:p>
          <a:p>
            <a:pPr algn="ctr">
              <a:lnSpc>
                <a:spcPct val="112000"/>
              </a:lnSpc>
              <a:spcBef>
                <a:spcPts val="0"/>
              </a:spcBef>
              <a:spcAft>
                <a:spcPts val="0"/>
              </a:spcAft>
              <a:defRPr sz="1800" b="0">
                <a:solidFill>
                  <a:srgbClr val="000000"/>
                </a:solidFill>
                <a:latin typeface="Times New Roman"/>
              </a:defRPr>
            </a:pPr>
            <a:r>
              <a:t>Treatment and Adoption</a:t>
            </a:r>
          </a:p>
        </p:txBody>
      </p:sp>
      <p:cxnSp>
        <p:nvCxnSpPr>
          <p:cNvPr id="40" name="Connector 39"/>
          <p:cNvCxnSpPr/>
          <p:nvPr/>
        </p:nvCxnSpPr>
        <p:spPr>
          <a:xfrm>
            <a:off x="8412480" y="2880360"/>
            <a:ext cx="658368" cy="0"/>
          </a:xfrm>
          <a:prstGeom prst="line">
            <a:avLst/>
          </a:prstGeom>
          <a:ln w="1651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8421624" y="2267712"/>
            <a:ext cx="630936" cy="512064"/>
          </a:xfrm>
          <a:prstGeom prst="rect">
            <a:avLst/>
          </a:prstGeom>
          <a:noFill/>
          <a:effectLst/>
        </p:spPr>
        <p:txBody>
          <a:bodyPr wrap="square" lIns="0" tIns="0" rIns="0" bIns="0" anchor="t">
            <a:spAutoFit/>
          </a:bodyPr>
          <a:lstStyle/>
          <a:p>
            <a:pPr algn="ctr">
              <a:lnSpc>
                <a:spcPct val="112000"/>
              </a:lnSpc>
              <a:spcBef>
                <a:spcPts val="0"/>
              </a:spcBef>
              <a:spcAft>
                <a:spcPts val="0"/>
              </a:spcAft>
              <a:defRPr sz="1100" b="0">
                <a:solidFill>
                  <a:srgbClr val="000000"/>
                </a:solidFill>
                <a:latin typeface="Times New Roman"/>
              </a:defRPr>
            </a:pPr>
            <a:r>
              <a:t>Server SDK</a:t>
            </a:r>
          </a:p>
          <a:p>
            <a:pPr algn="ctr">
              <a:lnSpc>
                <a:spcPct val="112000"/>
              </a:lnSpc>
              <a:spcBef>
                <a:spcPts val="0"/>
              </a:spcBef>
              <a:spcAft>
                <a:spcPts val="0"/>
              </a:spcAft>
              <a:defRPr sz="1100" b="0">
                <a:solidFill>
                  <a:srgbClr val="000000"/>
                </a:solidFill>
                <a:latin typeface="Times New Roman"/>
              </a:defRPr>
            </a:pPr>
            <a:r>
              <a:t>Read / Write</a:t>
            </a:r>
          </a:p>
        </p:txBody>
      </p:sp>
      <p:cxnSp>
        <p:nvCxnSpPr>
          <p:cNvPr id="42" name="Connector 41"/>
          <p:cNvCxnSpPr/>
          <p:nvPr/>
        </p:nvCxnSpPr>
        <p:spPr>
          <a:xfrm flipH="1">
            <a:off x="8412480" y="4718304"/>
            <a:ext cx="658368" cy="0"/>
          </a:xfrm>
          <a:prstGeom prst="line">
            <a:avLst/>
          </a:prstGeom>
          <a:ln w="1651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8439912" y="4928616"/>
            <a:ext cx="585216" cy="201168"/>
          </a:xfrm>
          <a:prstGeom prst="rect">
            <a:avLst/>
          </a:prstGeom>
          <a:noFill/>
          <a:effectLst/>
        </p:spPr>
        <p:txBody>
          <a:bodyPr wrap="square" lIns="0" tIns="0" rIns="0" bIns="0" anchor="t">
            <a:spAutoFit/>
          </a:bodyPr>
          <a:lstStyle/>
          <a:p>
            <a:pPr algn="ctr">
              <a:lnSpc>
                <a:spcPct val="112000"/>
              </a:lnSpc>
              <a:spcBef>
                <a:spcPts val="0"/>
              </a:spcBef>
              <a:spcAft>
                <a:spcPts val="0"/>
              </a:spcAft>
              <a:defRPr sz="1100" b="0">
                <a:solidFill>
                  <a:srgbClr val="000000"/>
                </a:solidFill>
                <a:latin typeface="Times New Roman"/>
              </a:defRPr>
            </a:pPr>
            <a:r>
              <a:t>Records</a:t>
            </a:r>
          </a:p>
        </p:txBody>
      </p:sp>
      <p:sp>
        <p:nvSpPr>
          <p:cNvPr id="44" name="Rounded Rectangle 43"/>
          <p:cNvSpPr/>
          <p:nvPr/>
        </p:nvSpPr>
        <p:spPr>
          <a:xfrm>
            <a:off x="9070848" y="2029968"/>
            <a:ext cx="2606040" cy="3282696"/>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9180576" y="2121408"/>
            <a:ext cx="2386584" cy="3099815"/>
          </a:xfrm>
          <a:prstGeom prst="rect">
            <a:avLst/>
          </a:prstGeom>
          <a:noFill/>
          <a:effectLst/>
        </p:spPr>
        <p:txBody>
          <a:bodyPr wrap="square" lIns="0" tIns="0" rIns="0" bIns="0" anchor="ctr">
            <a:spAutoFit/>
          </a:bodyPr>
          <a:lstStyle/>
          <a:p>
            <a:pPr algn="ctr">
              <a:lnSpc>
                <a:spcPct val="112000"/>
              </a:lnSpc>
              <a:spcBef>
                <a:spcPts val="0"/>
              </a:spcBef>
              <a:spcAft>
                <a:spcPts val="0"/>
              </a:spcAft>
              <a:defRPr sz="2100" b="0">
                <a:solidFill>
                  <a:srgbClr val="000000"/>
                </a:solidFill>
                <a:latin typeface="Times New Roman"/>
              </a:defRPr>
            </a:pPr>
            <a:endParaRPr/>
          </a:p>
        </p:txBody>
      </p:sp>
      <p:sp>
        <p:nvSpPr>
          <p:cNvPr id="46" name="TextBox 45"/>
          <p:cNvSpPr txBox="1"/>
          <p:nvPr/>
        </p:nvSpPr>
        <p:spPr>
          <a:xfrm>
            <a:off x="9244584" y="2542032"/>
            <a:ext cx="2267712" cy="886968"/>
          </a:xfrm>
          <a:prstGeom prst="rect">
            <a:avLst/>
          </a:prstGeom>
          <a:noFill/>
          <a:effectLst/>
        </p:spPr>
        <p:txBody>
          <a:bodyPr wrap="square" lIns="0" tIns="0" rIns="0" bIns="0" anchor="t">
            <a:spAutoFit/>
          </a:bodyPr>
          <a:lstStyle/>
          <a:p>
            <a:pPr algn="ctr">
              <a:lnSpc>
                <a:spcPct val="112000"/>
              </a:lnSpc>
              <a:spcBef>
                <a:spcPts val="0"/>
              </a:spcBef>
              <a:spcAft>
                <a:spcPts val="0"/>
              </a:spcAft>
              <a:defRPr sz="2500" b="1">
                <a:solidFill>
                  <a:srgbClr val="000000"/>
                </a:solidFill>
                <a:latin typeface="Times New Roman"/>
              </a:defRPr>
            </a:pPr>
            <a:r>
              <a:rPr dirty="0"/>
              <a:t>Firebase</a:t>
            </a:r>
          </a:p>
          <a:p>
            <a:pPr algn="ctr">
              <a:lnSpc>
                <a:spcPct val="112000"/>
              </a:lnSpc>
              <a:spcBef>
                <a:spcPts val="0"/>
              </a:spcBef>
              <a:spcAft>
                <a:spcPts val="0"/>
              </a:spcAft>
              <a:defRPr sz="2500" b="1">
                <a:solidFill>
                  <a:srgbClr val="000000"/>
                </a:solidFill>
                <a:latin typeface="Times New Roman"/>
              </a:defRPr>
            </a:pPr>
            <a:r>
              <a:rPr dirty="0" err="1"/>
              <a:t>Firestore</a:t>
            </a:r>
            <a:endParaRPr dirty="0"/>
          </a:p>
        </p:txBody>
      </p:sp>
      <p:sp>
        <p:nvSpPr>
          <p:cNvPr id="47" name="TextBox 46"/>
          <p:cNvSpPr txBox="1"/>
          <p:nvPr/>
        </p:nvSpPr>
        <p:spPr>
          <a:xfrm>
            <a:off x="9244584" y="4014215"/>
            <a:ext cx="2267712" cy="978408"/>
          </a:xfrm>
          <a:prstGeom prst="rect">
            <a:avLst/>
          </a:prstGeom>
          <a:noFill/>
          <a:effectLst/>
        </p:spPr>
        <p:txBody>
          <a:bodyPr wrap="square" lIns="0" tIns="0" rIns="0" bIns="0" anchor="t">
            <a:spAutoFit/>
          </a:bodyPr>
          <a:lstStyle/>
          <a:p>
            <a:pPr algn="ctr">
              <a:lnSpc>
                <a:spcPct val="112000"/>
              </a:lnSpc>
              <a:spcBef>
                <a:spcPts val="0"/>
              </a:spcBef>
              <a:spcAft>
                <a:spcPts val="0"/>
              </a:spcAft>
              <a:defRPr sz="1700" b="0">
                <a:solidFill>
                  <a:srgbClr val="000000"/>
                </a:solidFill>
                <a:latin typeface="Times New Roman"/>
              </a:defRPr>
            </a:pPr>
            <a:r>
              <a:t>Users • Cases</a:t>
            </a:r>
          </a:p>
          <a:p>
            <a:pPr algn="ctr">
              <a:lnSpc>
                <a:spcPct val="112000"/>
              </a:lnSpc>
              <a:spcBef>
                <a:spcPts val="0"/>
              </a:spcBef>
              <a:spcAft>
                <a:spcPts val="0"/>
              </a:spcAft>
              <a:defRPr sz="1700" b="0">
                <a:solidFill>
                  <a:srgbClr val="000000"/>
                </a:solidFill>
                <a:latin typeface="Times New Roman"/>
              </a:defRPr>
            </a:pPr>
            <a:r>
              <a:t>Assignments • Animals</a:t>
            </a:r>
          </a:p>
          <a:p>
            <a:pPr algn="ctr">
              <a:lnSpc>
                <a:spcPct val="112000"/>
              </a:lnSpc>
              <a:spcBef>
                <a:spcPts val="0"/>
              </a:spcBef>
              <a:spcAft>
                <a:spcPts val="0"/>
              </a:spcAft>
              <a:defRPr sz="1700" b="0">
                <a:solidFill>
                  <a:srgbClr val="000000"/>
                </a:solidFill>
                <a:latin typeface="Times New Roman"/>
              </a:defRPr>
            </a:pPr>
            <a:r>
              <a:t>Treatment • Applications</a:t>
            </a:r>
          </a:p>
        </p:txBody>
      </p:sp>
      <p:sp>
        <p:nvSpPr>
          <p:cNvPr id="4" name="Rounded Rectangle 18">
            <a:extLst>
              <a:ext uri="{FF2B5EF4-FFF2-40B4-BE49-F238E27FC236}">
                <a16:creationId xmlns:a16="http://schemas.microsoft.com/office/drawing/2014/main" id="{19FA883F-3373-1A29-58B4-BAC9D60BA5F0}"/>
              </a:ext>
            </a:extLst>
          </p:cNvPr>
          <p:cNvSpPr/>
          <p:nvPr/>
        </p:nvSpPr>
        <p:spPr>
          <a:xfrm>
            <a:off x="795528" y="4913179"/>
            <a:ext cx="1719072" cy="566928"/>
          </a:xfrm>
          <a:prstGeom prst="roundRect">
            <a:avLst>
              <a:gd name="adj" fmla="val 12000"/>
            </a:avLst>
          </a:prstGeom>
          <a:solidFill>
            <a:srgbClr val="FFFFFF"/>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8" name="Connector 21">
            <a:extLst>
              <a:ext uri="{FF2B5EF4-FFF2-40B4-BE49-F238E27FC236}">
                <a16:creationId xmlns:a16="http://schemas.microsoft.com/office/drawing/2014/main" id="{6C1241E8-2538-8F49-E2C4-193F38974659}"/>
              </a:ext>
            </a:extLst>
          </p:cNvPr>
          <p:cNvCxnSpPr>
            <a:cxnSpLocks/>
          </p:cNvCxnSpPr>
          <p:nvPr/>
        </p:nvCxnSpPr>
        <p:spPr>
          <a:xfrm>
            <a:off x="2624328" y="4510843"/>
            <a:ext cx="0" cy="685800"/>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cxnSp>
        <p:nvCxnSpPr>
          <p:cNvPr id="56" name="Connector 11">
            <a:extLst>
              <a:ext uri="{FF2B5EF4-FFF2-40B4-BE49-F238E27FC236}">
                <a16:creationId xmlns:a16="http://schemas.microsoft.com/office/drawing/2014/main" id="{5D2E7D88-2AD2-E157-863C-189DCBFC3F78}"/>
              </a:ext>
            </a:extLst>
          </p:cNvPr>
          <p:cNvCxnSpPr>
            <a:cxnSpLocks/>
            <a:stCxn id="4" idx="3"/>
          </p:cNvCxnSpPr>
          <p:nvPr/>
        </p:nvCxnSpPr>
        <p:spPr>
          <a:xfrm>
            <a:off x="2514600" y="5196643"/>
            <a:ext cx="109728" cy="0"/>
          </a:xfrm>
          <a:prstGeom prst="line">
            <a:avLst/>
          </a:prstGeom>
          <a:ln w="12700">
            <a:solidFill>
              <a:srgbClr val="376D8B"/>
            </a:solidFill>
          </a:ln>
          <a:effectLst/>
        </p:spPr>
        <p:style>
          <a:lnRef idx="2">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15E857E-0334-4C9B-A21F-66D223A66DE9}"/>
              </a:ext>
            </a:extLst>
          </p:cNvPr>
          <p:cNvSpPr txBox="1"/>
          <p:nvPr/>
        </p:nvSpPr>
        <p:spPr>
          <a:xfrm>
            <a:off x="877824" y="5033259"/>
            <a:ext cx="1499616" cy="302775"/>
          </a:xfrm>
          <a:prstGeom prst="rect">
            <a:avLst/>
          </a:prstGeom>
          <a:noFill/>
          <a:effectLst/>
        </p:spPr>
        <p:txBody>
          <a:bodyPr wrap="square" lIns="0" tIns="0" rIns="0" bIns="0" anchor="ctr">
            <a:spAutoFit/>
          </a:bodyPr>
          <a:lstStyle/>
          <a:p>
            <a:pPr algn="ctr">
              <a:lnSpc>
                <a:spcPct val="112000"/>
              </a:lnSpc>
              <a:spcBef>
                <a:spcPts val="0"/>
              </a:spcBef>
              <a:spcAft>
                <a:spcPts val="0"/>
              </a:spcAft>
              <a:defRPr sz="1900" b="0">
                <a:solidFill>
                  <a:srgbClr val="000000"/>
                </a:solidFill>
                <a:latin typeface="Times New Roman"/>
              </a:defRPr>
            </a:pPr>
            <a:r>
              <a:rPr lang="en-US" dirty="0"/>
              <a:t>NGO</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Emergency Rescue Workflow:</a:t>
            </a:r>
          </a:p>
        </p:txBody>
      </p:sp>
      <p:sp>
        <p:nvSpPr>
          <p:cNvPr id="6" name="Rounded Rectangle 5"/>
          <p:cNvSpPr/>
          <p:nvPr/>
        </p:nvSpPr>
        <p:spPr>
          <a:xfrm>
            <a:off x="795528" y="1819656"/>
            <a:ext cx="2313432" cy="1353312"/>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905256" y="1911095"/>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Emergency</a:t>
            </a:r>
          </a:p>
          <a:p>
            <a:pPr algn="ctr">
              <a:lnSpc>
                <a:spcPct val="112000"/>
              </a:lnSpc>
              <a:spcBef>
                <a:spcPts val="0"/>
              </a:spcBef>
              <a:spcAft>
                <a:spcPts val="0"/>
              </a:spcAft>
              <a:defRPr sz="2000" b="0">
                <a:solidFill>
                  <a:srgbClr val="000000"/>
                </a:solidFill>
                <a:latin typeface="Times New Roman"/>
              </a:defRPr>
            </a:pPr>
            <a:r>
              <a:t>Detected</a:t>
            </a:r>
          </a:p>
        </p:txBody>
      </p:sp>
      <p:sp>
        <p:nvSpPr>
          <p:cNvPr id="8" name="TextBox 7"/>
          <p:cNvSpPr txBox="1"/>
          <p:nvPr/>
        </p:nvSpPr>
        <p:spPr>
          <a:xfrm>
            <a:off x="914400" y="1892807"/>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rPr dirty="0"/>
              <a:t>1</a:t>
            </a:r>
          </a:p>
        </p:txBody>
      </p:sp>
      <p:sp>
        <p:nvSpPr>
          <p:cNvPr id="9" name="Rounded Rectangle 8"/>
          <p:cNvSpPr/>
          <p:nvPr/>
        </p:nvSpPr>
        <p:spPr>
          <a:xfrm>
            <a:off x="3657600" y="1819656"/>
            <a:ext cx="2313432" cy="1353312"/>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767328" y="1911095"/>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Citizen</a:t>
            </a:r>
          </a:p>
          <a:p>
            <a:pPr algn="ctr">
              <a:lnSpc>
                <a:spcPct val="112000"/>
              </a:lnSpc>
              <a:spcBef>
                <a:spcPts val="0"/>
              </a:spcBef>
              <a:spcAft>
                <a:spcPts val="0"/>
              </a:spcAft>
              <a:defRPr sz="2000" b="0">
                <a:solidFill>
                  <a:srgbClr val="000000"/>
                </a:solidFill>
                <a:latin typeface="Times New Roman"/>
              </a:defRPr>
            </a:pPr>
            <a:r>
              <a:t>Reports</a:t>
            </a:r>
          </a:p>
        </p:txBody>
      </p:sp>
      <p:sp>
        <p:nvSpPr>
          <p:cNvPr id="11" name="TextBox 10"/>
          <p:cNvSpPr txBox="1"/>
          <p:nvPr/>
        </p:nvSpPr>
        <p:spPr>
          <a:xfrm>
            <a:off x="3776472" y="1892807"/>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2</a:t>
            </a:r>
          </a:p>
        </p:txBody>
      </p:sp>
      <p:sp>
        <p:nvSpPr>
          <p:cNvPr id="12" name="Rounded Rectangle 11"/>
          <p:cNvSpPr/>
          <p:nvPr/>
        </p:nvSpPr>
        <p:spPr>
          <a:xfrm>
            <a:off x="6519672" y="1819656"/>
            <a:ext cx="2313432" cy="1353312"/>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629400" y="1911095"/>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Shelter</a:t>
            </a:r>
          </a:p>
          <a:p>
            <a:pPr algn="ctr">
              <a:lnSpc>
                <a:spcPct val="112000"/>
              </a:lnSpc>
              <a:spcBef>
                <a:spcPts val="0"/>
              </a:spcBef>
              <a:spcAft>
                <a:spcPts val="0"/>
              </a:spcAft>
              <a:defRPr sz="2000" b="0">
                <a:solidFill>
                  <a:srgbClr val="000000"/>
                </a:solidFill>
                <a:latin typeface="Times New Roman"/>
              </a:defRPr>
            </a:pPr>
            <a:r>
              <a:t>Verification</a:t>
            </a:r>
          </a:p>
        </p:txBody>
      </p:sp>
      <p:sp>
        <p:nvSpPr>
          <p:cNvPr id="14" name="TextBox 13"/>
          <p:cNvSpPr txBox="1"/>
          <p:nvPr/>
        </p:nvSpPr>
        <p:spPr>
          <a:xfrm>
            <a:off x="6638544" y="1892807"/>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3</a:t>
            </a:r>
          </a:p>
        </p:txBody>
      </p:sp>
      <p:sp>
        <p:nvSpPr>
          <p:cNvPr id="15" name="Rounded Rectangle 14"/>
          <p:cNvSpPr/>
          <p:nvPr/>
        </p:nvSpPr>
        <p:spPr>
          <a:xfrm>
            <a:off x="9381744" y="1819656"/>
            <a:ext cx="2313432" cy="1353312"/>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9491472" y="1911095"/>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Volunteer</a:t>
            </a:r>
          </a:p>
          <a:p>
            <a:pPr algn="ctr">
              <a:lnSpc>
                <a:spcPct val="112000"/>
              </a:lnSpc>
              <a:spcBef>
                <a:spcPts val="0"/>
              </a:spcBef>
              <a:spcAft>
                <a:spcPts val="0"/>
              </a:spcAft>
              <a:defRPr sz="2000" b="0">
                <a:solidFill>
                  <a:srgbClr val="000000"/>
                </a:solidFill>
                <a:latin typeface="Times New Roman"/>
              </a:defRPr>
            </a:pPr>
            <a:r>
              <a:t>Dispatch</a:t>
            </a:r>
          </a:p>
        </p:txBody>
      </p:sp>
      <p:sp>
        <p:nvSpPr>
          <p:cNvPr id="17" name="TextBox 16"/>
          <p:cNvSpPr txBox="1"/>
          <p:nvPr/>
        </p:nvSpPr>
        <p:spPr>
          <a:xfrm>
            <a:off x="9500616" y="1892807"/>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4</a:t>
            </a:r>
          </a:p>
        </p:txBody>
      </p:sp>
      <p:cxnSp>
        <p:nvCxnSpPr>
          <p:cNvPr id="18" name="Connector 17"/>
          <p:cNvCxnSpPr/>
          <p:nvPr/>
        </p:nvCxnSpPr>
        <p:spPr>
          <a:xfrm>
            <a:off x="3145536" y="2496312"/>
            <a:ext cx="475488" cy="0"/>
          </a:xfrm>
          <a:prstGeom prst="line">
            <a:avLst/>
          </a:prstGeom>
          <a:ln w="1778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6007607" y="2496312"/>
            <a:ext cx="475489" cy="0"/>
          </a:xfrm>
          <a:prstGeom prst="line">
            <a:avLst/>
          </a:prstGeom>
          <a:ln w="1778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8869680" y="2496312"/>
            <a:ext cx="475488" cy="0"/>
          </a:xfrm>
          <a:prstGeom prst="line">
            <a:avLst/>
          </a:prstGeom>
          <a:ln w="1778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0538460" y="3200400"/>
            <a:ext cx="0" cy="832104"/>
          </a:xfrm>
          <a:prstGeom prst="line">
            <a:avLst/>
          </a:prstGeom>
          <a:ln w="1778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9381744" y="4096512"/>
            <a:ext cx="2313432" cy="1353312"/>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9491472" y="4187952"/>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Rescue Action</a:t>
            </a:r>
          </a:p>
        </p:txBody>
      </p:sp>
      <p:sp>
        <p:nvSpPr>
          <p:cNvPr id="24" name="TextBox 23"/>
          <p:cNvSpPr txBox="1"/>
          <p:nvPr/>
        </p:nvSpPr>
        <p:spPr>
          <a:xfrm>
            <a:off x="9500616" y="416966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5</a:t>
            </a:r>
          </a:p>
        </p:txBody>
      </p:sp>
      <p:sp>
        <p:nvSpPr>
          <p:cNvPr id="25" name="Rounded Rectangle 24"/>
          <p:cNvSpPr/>
          <p:nvPr/>
        </p:nvSpPr>
        <p:spPr>
          <a:xfrm>
            <a:off x="6519672" y="4096512"/>
            <a:ext cx="2313432" cy="1353312"/>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629400" y="4187952"/>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Treatment</a:t>
            </a:r>
          </a:p>
        </p:txBody>
      </p:sp>
      <p:sp>
        <p:nvSpPr>
          <p:cNvPr id="27" name="TextBox 26"/>
          <p:cNvSpPr txBox="1"/>
          <p:nvPr/>
        </p:nvSpPr>
        <p:spPr>
          <a:xfrm>
            <a:off x="6638544" y="416966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6</a:t>
            </a:r>
          </a:p>
        </p:txBody>
      </p:sp>
      <p:sp>
        <p:nvSpPr>
          <p:cNvPr id="28" name="Rounded Rectangle 27"/>
          <p:cNvSpPr/>
          <p:nvPr/>
        </p:nvSpPr>
        <p:spPr>
          <a:xfrm>
            <a:off x="3657600" y="4096512"/>
            <a:ext cx="2313432" cy="1353312"/>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3767328" y="4187952"/>
            <a:ext cx="2093976" cy="1170432"/>
          </a:xfrm>
          <a:prstGeom prst="rect">
            <a:avLst/>
          </a:prstGeom>
          <a:noFill/>
          <a:effectLst/>
        </p:spPr>
        <p:txBody>
          <a:bodyPr wrap="square" lIns="0" tIns="0" rIns="0" bIns="0" anchor="ctr">
            <a:spAutoFit/>
          </a:bodyPr>
          <a:lstStyle/>
          <a:p>
            <a:pPr algn="ctr">
              <a:lnSpc>
                <a:spcPct val="112000"/>
              </a:lnSpc>
              <a:spcBef>
                <a:spcPts val="0"/>
              </a:spcBef>
              <a:spcAft>
                <a:spcPts val="0"/>
              </a:spcAft>
              <a:defRPr sz="2000" b="0">
                <a:solidFill>
                  <a:srgbClr val="000000"/>
                </a:solidFill>
                <a:latin typeface="Times New Roman"/>
              </a:defRPr>
            </a:pPr>
            <a:r>
              <a:t>Case Closed</a:t>
            </a:r>
          </a:p>
        </p:txBody>
      </p:sp>
      <p:sp>
        <p:nvSpPr>
          <p:cNvPr id="30" name="TextBox 29"/>
          <p:cNvSpPr txBox="1"/>
          <p:nvPr/>
        </p:nvSpPr>
        <p:spPr>
          <a:xfrm>
            <a:off x="3776472" y="4169664"/>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7</a:t>
            </a:r>
          </a:p>
        </p:txBody>
      </p:sp>
      <p:cxnSp>
        <p:nvCxnSpPr>
          <p:cNvPr id="31" name="Connector 30"/>
          <p:cNvCxnSpPr/>
          <p:nvPr/>
        </p:nvCxnSpPr>
        <p:spPr>
          <a:xfrm flipH="1">
            <a:off x="8869680" y="4764024"/>
            <a:ext cx="475488" cy="0"/>
          </a:xfrm>
          <a:prstGeom prst="line">
            <a:avLst/>
          </a:prstGeom>
          <a:ln w="1778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6007607" y="4764024"/>
            <a:ext cx="475489" cy="0"/>
          </a:xfrm>
          <a:prstGeom prst="line">
            <a:avLst/>
          </a:prstGeom>
          <a:ln w="1778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77824" y="4370832"/>
            <a:ext cx="2414016" cy="1014984"/>
          </a:xfrm>
          <a:prstGeom prst="rect">
            <a:avLst/>
          </a:prstGeom>
          <a:noFill/>
          <a:effectLst/>
        </p:spPr>
        <p:txBody>
          <a:bodyPr wrap="square" lIns="0" tIns="0" rIns="0" bIns="0" anchor="t">
            <a:spAutoFit/>
          </a:bodyPr>
          <a:lstStyle/>
          <a:p>
            <a:pPr algn="l">
              <a:lnSpc>
                <a:spcPct val="112000"/>
              </a:lnSpc>
              <a:spcBef>
                <a:spcPts val="0"/>
              </a:spcBef>
              <a:spcAft>
                <a:spcPts val="0"/>
              </a:spcAft>
              <a:defRPr sz="2100" b="0">
                <a:solidFill>
                  <a:srgbClr val="000000"/>
                </a:solidFill>
                <a:latin typeface="Times New Roman"/>
              </a:defRPr>
            </a:pPr>
            <a:r>
              <a:t>Outcome recorded</a:t>
            </a:r>
          </a:p>
          <a:p>
            <a:pPr algn="l">
              <a:lnSpc>
                <a:spcPct val="112000"/>
              </a:lnSpc>
              <a:spcBef>
                <a:spcPts val="0"/>
              </a:spcBef>
              <a:spcAft>
                <a:spcPts val="0"/>
              </a:spcAft>
              <a:defRPr sz="2100" b="0">
                <a:solidFill>
                  <a:srgbClr val="000000"/>
                </a:solidFill>
                <a:latin typeface="Times New Roman"/>
              </a:defRPr>
            </a:pPr>
            <a:r>
              <a:t>and linked to the</a:t>
            </a:r>
          </a:p>
          <a:p>
            <a:pPr algn="l">
              <a:lnSpc>
                <a:spcPct val="112000"/>
              </a:lnSpc>
              <a:spcBef>
                <a:spcPts val="0"/>
              </a:spcBef>
              <a:spcAft>
                <a:spcPts val="0"/>
              </a:spcAft>
              <a:defRPr sz="2100" b="0">
                <a:solidFill>
                  <a:srgbClr val="000000"/>
                </a:solidFill>
                <a:latin typeface="Times New Roman"/>
              </a:defRPr>
            </a:pPr>
            <a:r>
              <a:t>animal profile.</a:t>
            </a:r>
          </a:p>
        </p:txBody>
      </p:sp>
      <p:sp>
        <p:nvSpPr>
          <p:cNvPr id="34" name="TextBox 33"/>
          <p:cNvSpPr txBox="1"/>
          <p:nvPr/>
        </p:nvSpPr>
        <p:spPr>
          <a:xfrm>
            <a:off x="850392" y="5925312"/>
            <a:ext cx="10625328" cy="356616"/>
          </a:xfrm>
          <a:prstGeom prst="rect">
            <a:avLst/>
          </a:prstGeom>
          <a:noFill/>
          <a:effectLst/>
        </p:spPr>
        <p:txBody>
          <a:bodyPr wrap="square" lIns="0" tIns="0" rIns="0" bIns="0" anchor="t">
            <a:spAutoFit/>
          </a:bodyPr>
          <a:lstStyle/>
          <a:p>
            <a:pPr algn="l">
              <a:lnSpc>
                <a:spcPct val="112000"/>
              </a:lnSpc>
              <a:spcBef>
                <a:spcPts val="0"/>
              </a:spcBef>
              <a:spcAft>
                <a:spcPts val="0"/>
              </a:spcAft>
              <a:defRPr sz="1900" b="0">
                <a:solidFill>
                  <a:srgbClr val="000000"/>
                </a:solidFill>
                <a:latin typeface="Times New Roman"/>
              </a:defRPr>
            </a:pPr>
            <a:r>
              <a:t>Incomplete report → request clarification.  Volunteer unavailable → reassign the case.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Pet Adoption Workflow:</a:t>
            </a:r>
          </a:p>
        </p:txBody>
      </p:sp>
      <p:sp>
        <p:nvSpPr>
          <p:cNvPr id="6" name="Rounded Rectangle 5"/>
          <p:cNvSpPr/>
          <p:nvPr/>
        </p:nvSpPr>
        <p:spPr>
          <a:xfrm>
            <a:off x="813816" y="1746504"/>
            <a:ext cx="2944368" cy="1517904"/>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923544" y="1956816"/>
            <a:ext cx="2724912"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Animal Available</a:t>
            </a:r>
          </a:p>
        </p:txBody>
      </p:sp>
      <p:sp>
        <p:nvSpPr>
          <p:cNvPr id="8" name="TextBox 7"/>
          <p:cNvSpPr txBox="1"/>
          <p:nvPr/>
        </p:nvSpPr>
        <p:spPr>
          <a:xfrm>
            <a:off x="923544" y="2807208"/>
            <a:ext cx="272491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Shelter confirms readiness</a:t>
            </a:r>
          </a:p>
        </p:txBody>
      </p:sp>
      <p:sp>
        <p:nvSpPr>
          <p:cNvPr id="9" name="TextBox 8"/>
          <p:cNvSpPr txBox="1"/>
          <p:nvPr/>
        </p:nvSpPr>
        <p:spPr>
          <a:xfrm>
            <a:off x="932688" y="1819656"/>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1</a:t>
            </a:r>
          </a:p>
        </p:txBody>
      </p:sp>
      <p:sp>
        <p:nvSpPr>
          <p:cNvPr id="10" name="Rounded Rectangle 9"/>
          <p:cNvSpPr/>
          <p:nvPr/>
        </p:nvSpPr>
        <p:spPr>
          <a:xfrm>
            <a:off x="4599432" y="1746504"/>
            <a:ext cx="2944368" cy="1517904"/>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4709160" y="1956816"/>
            <a:ext cx="2724912"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Animal Listed</a:t>
            </a:r>
          </a:p>
        </p:txBody>
      </p:sp>
      <p:sp>
        <p:nvSpPr>
          <p:cNvPr id="12" name="TextBox 11"/>
          <p:cNvSpPr txBox="1"/>
          <p:nvPr/>
        </p:nvSpPr>
        <p:spPr>
          <a:xfrm>
            <a:off x="4709160" y="2807208"/>
            <a:ext cx="272491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Profile and health details</a:t>
            </a:r>
          </a:p>
        </p:txBody>
      </p:sp>
      <p:sp>
        <p:nvSpPr>
          <p:cNvPr id="13" name="TextBox 12"/>
          <p:cNvSpPr txBox="1"/>
          <p:nvPr/>
        </p:nvSpPr>
        <p:spPr>
          <a:xfrm>
            <a:off x="4718304" y="1819656"/>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2</a:t>
            </a:r>
          </a:p>
        </p:txBody>
      </p:sp>
      <p:sp>
        <p:nvSpPr>
          <p:cNvPr id="14" name="Rounded Rectangle 13"/>
          <p:cNvSpPr/>
          <p:nvPr/>
        </p:nvSpPr>
        <p:spPr>
          <a:xfrm>
            <a:off x="8385048" y="1746504"/>
            <a:ext cx="2944368" cy="1517904"/>
          </a:xfrm>
          <a:prstGeom prst="roundRect">
            <a:avLst>
              <a:gd name="adj" fmla="val 12000"/>
            </a:avLst>
          </a:prstGeom>
          <a:solidFill>
            <a:srgbClr val="F4F8FA"/>
          </a:solidFill>
          <a:ln w="12065">
            <a:solidFill>
              <a:srgbClr val="376D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494776" y="1956816"/>
            <a:ext cx="2724912"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User Application</a:t>
            </a:r>
          </a:p>
        </p:txBody>
      </p:sp>
      <p:sp>
        <p:nvSpPr>
          <p:cNvPr id="16" name="TextBox 15"/>
          <p:cNvSpPr txBox="1"/>
          <p:nvPr/>
        </p:nvSpPr>
        <p:spPr>
          <a:xfrm>
            <a:off x="8494776" y="2807208"/>
            <a:ext cx="272491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Adopter submits interest</a:t>
            </a:r>
          </a:p>
        </p:txBody>
      </p:sp>
      <p:sp>
        <p:nvSpPr>
          <p:cNvPr id="17" name="TextBox 16"/>
          <p:cNvSpPr txBox="1"/>
          <p:nvPr/>
        </p:nvSpPr>
        <p:spPr>
          <a:xfrm>
            <a:off x="8503920" y="1819656"/>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3</a:t>
            </a:r>
          </a:p>
        </p:txBody>
      </p:sp>
      <p:cxnSp>
        <p:nvCxnSpPr>
          <p:cNvPr id="18" name="Connector 17"/>
          <p:cNvCxnSpPr/>
          <p:nvPr/>
        </p:nvCxnSpPr>
        <p:spPr>
          <a:xfrm>
            <a:off x="3803904" y="2496312"/>
            <a:ext cx="740664" cy="0"/>
          </a:xfrm>
          <a:prstGeom prst="line">
            <a:avLst/>
          </a:prstGeom>
          <a:ln w="1778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7589520" y="2496312"/>
            <a:ext cx="740663" cy="0"/>
          </a:xfrm>
          <a:prstGeom prst="line">
            <a:avLst/>
          </a:prstGeom>
          <a:ln w="17780">
            <a:solidFill>
              <a:srgbClr val="376D8B"/>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9857232" y="3300984"/>
            <a:ext cx="0" cy="676655"/>
          </a:xfrm>
          <a:prstGeom prst="line">
            <a:avLst/>
          </a:prstGeom>
          <a:ln w="1778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385048" y="4041648"/>
            <a:ext cx="2944368" cy="1517904"/>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494776" y="4251960"/>
            <a:ext cx="2724912"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Verification</a:t>
            </a:r>
          </a:p>
        </p:txBody>
      </p:sp>
      <p:sp>
        <p:nvSpPr>
          <p:cNvPr id="23" name="TextBox 22"/>
          <p:cNvSpPr txBox="1"/>
          <p:nvPr/>
        </p:nvSpPr>
        <p:spPr>
          <a:xfrm>
            <a:off x="8494776" y="5102352"/>
            <a:ext cx="272491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Suitability and commitment</a:t>
            </a:r>
          </a:p>
        </p:txBody>
      </p:sp>
      <p:sp>
        <p:nvSpPr>
          <p:cNvPr id="24" name="TextBox 23"/>
          <p:cNvSpPr txBox="1"/>
          <p:nvPr/>
        </p:nvSpPr>
        <p:spPr>
          <a:xfrm>
            <a:off x="8503920" y="411480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4</a:t>
            </a:r>
          </a:p>
        </p:txBody>
      </p:sp>
      <p:sp>
        <p:nvSpPr>
          <p:cNvPr id="25" name="Rounded Rectangle 24"/>
          <p:cNvSpPr/>
          <p:nvPr/>
        </p:nvSpPr>
        <p:spPr>
          <a:xfrm>
            <a:off x="4599432" y="4041648"/>
            <a:ext cx="2944368" cy="1517904"/>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709160" y="4251960"/>
            <a:ext cx="2724912"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Approval</a:t>
            </a:r>
          </a:p>
        </p:txBody>
      </p:sp>
      <p:sp>
        <p:nvSpPr>
          <p:cNvPr id="27" name="TextBox 26"/>
          <p:cNvSpPr txBox="1"/>
          <p:nvPr/>
        </p:nvSpPr>
        <p:spPr>
          <a:xfrm>
            <a:off x="4709160" y="5102352"/>
            <a:ext cx="272491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Shelter decision</a:t>
            </a:r>
          </a:p>
        </p:txBody>
      </p:sp>
      <p:sp>
        <p:nvSpPr>
          <p:cNvPr id="28" name="TextBox 27"/>
          <p:cNvSpPr txBox="1"/>
          <p:nvPr/>
        </p:nvSpPr>
        <p:spPr>
          <a:xfrm>
            <a:off x="4718304" y="411480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5</a:t>
            </a:r>
          </a:p>
        </p:txBody>
      </p:sp>
      <p:sp>
        <p:nvSpPr>
          <p:cNvPr id="29" name="Rounded Rectangle 28"/>
          <p:cNvSpPr/>
          <p:nvPr/>
        </p:nvSpPr>
        <p:spPr>
          <a:xfrm>
            <a:off x="813816" y="4041648"/>
            <a:ext cx="2944368" cy="1517904"/>
          </a:xfrm>
          <a:prstGeom prst="roundRect">
            <a:avLst>
              <a:gd name="adj" fmla="val 12000"/>
            </a:avLst>
          </a:prstGeom>
          <a:solidFill>
            <a:srgbClr val="F3F8F6"/>
          </a:solidFill>
          <a:ln w="12065">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923544" y="4251960"/>
            <a:ext cx="2724912" cy="694944"/>
          </a:xfrm>
          <a:prstGeom prst="rect">
            <a:avLst/>
          </a:prstGeom>
          <a:noFill/>
          <a:effectLst/>
        </p:spPr>
        <p:txBody>
          <a:bodyPr wrap="square" lIns="0" tIns="0" rIns="0" bIns="0" anchor="t">
            <a:spAutoFit/>
          </a:bodyPr>
          <a:lstStyle/>
          <a:p>
            <a:pPr algn="ctr">
              <a:lnSpc>
                <a:spcPct val="112000"/>
              </a:lnSpc>
              <a:spcBef>
                <a:spcPts val="0"/>
              </a:spcBef>
              <a:spcAft>
                <a:spcPts val="0"/>
              </a:spcAft>
              <a:defRPr sz="2000" b="1">
                <a:solidFill>
                  <a:srgbClr val="000000"/>
                </a:solidFill>
                <a:latin typeface="Times New Roman"/>
              </a:defRPr>
            </a:pPr>
            <a:r>
              <a:t>Successful Adoption</a:t>
            </a:r>
          </a:p>
        </p:txBody>
      </p:sp>
      <p:sp>
        <p:nvSpPr>
          <p:cNvPr id="31" name="TextBox 30"/>
          <p:cNvSpPr txBox="1"/>
          <p:nvPr/>
        </p:nvSpPr>
        <p:spPr>
          <a:xfrm>
            <a:off x="923544" y="5102352"/>
            <a:ext cx="2724912" cy="301752"/>
          </a:xfrm>
          <a:prstGeom prst="rect">
            <a:avLst/>
          </a:prstGeom>
          <a:noFill/>
          <a:effectLst/>
        </p:spPr>
        <p:txBody>
          <a:bodyPr wrap="square" lIns="0" tIns="0" rIns="0" bIns="0" anchor="t">
            <a:spAutoFit/>
          </a:bodyPr>
          <a:lstStyle/>
          <a:p>
            <a:pPr algn="ctr">
              <a:lnSpc>
                <a:spcPct val="112000"/>
              </a:lnSpc>
              <a:spcBef>
                <a:spcPts val="0"/>
              </a:spcBef>
              <a:spcAft>
                <a:spcPts val="0"/>
              </a:spcAft>
              <a:defRPr sz="1500" b="0">
                <a:solidFill>
                  <a:srgbClr val="353535"/>
                </a:solidFill>
                <a:latin typeface="Times New Roman"/>
              </a:defRPr>
            </a:pPr>
            <a:r>
              <a:t>Handover completed</a:t>
            </a:r>
          </a:p>
        </p:txBody>
      </p:sp>
      <p:sp>
        <p:nvSpPr>
          <p:cNvPr id="32" name="TextBox 31"/>
          <p:cNvSpPr txBox="1"/>
          <p:nvPr/>
        </p:nvSpPr>
        <p:spPr>
          <a:xfrm>
            <a:off x="932688" y="4114800"/>
            <a:ext cx="320040" cy="237744"/>
          </a:xfrm>
          <a:prstGeom prst="rect">
            <a:avLst/>
          </a:prstGeom>
          <a:noFill/>
          <a:effectLst/>
        </p:spPr>
        <p:txBody>
          <a:bodyPr wrap="square" lIns="0" tIns="0" rIns="0" bIns="0" anchor="t">
            <a:spAutoFit/>
          </a:bodyPr>
          <a:lstStyle/>
          <a:p>
            <a:pPr algn="l">
              <a:lnSpc>
                <a:spcPct val="112000"/>
              </a:lnSpc>
              <a:spcBef>
                <a:spcPts val="0"/>
              </a:spcBef>
              <a:spcAft>
                <a:spcPts val="0"/>
              </a:spcAft>
              <a:defRPr sz="1300" b="1">
                <a:solidFill>
                  <a:srgbClr val="353535"/>
                </a:solidFill>
                <a:latin typeface="Times New Roman"/>
              </a:defRPr>
            </a:pPr>
            <a:r>
              <a:t>6</a:t>
            </a:r>
          </a:p>
        </p:txBody>
      </p:sp>
      <p:cxnSp>
        <p:nvCxnSpPr>
          <p:cNvPr id="33" name="Connector 32"/>
          <p:cNvCxnSpPr/>
          <p:nvPr/>
        </p:nvCxnSpPr>
        <p:spPr>
          <a:xfrm flipH="1">
            <a:off x="7598664" y="4800600"/>
            <a:ext cx="740663" cy="0"/>
          </a:xfrm>
          <a:prstGeom prst="line">
            <a:avLst/>
          </a:prstGeom>
          <a:ln w="1778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H="1">
            <a:off x="3813048" y="4800600"/>
            <a:ext cx="740664" cy="0"/>
          </a:xfrm>
          <a:prstGeom prst="line">
            <a:avLst/>
          </a:prstGeom>
          <a:ln w="17780">
            <a:solidFill>
              <a:srgbClr val="31837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859536" y="5952744"/>
            <a:ext cx="10533888" cy="365760"/>
          </a:xfrm>
          <a:prstGeom prst="rect">
            <a:avLst/>
          </a:prstGeom>
          <a:noFill/>
          <a:effectLst/>
        </p:spPr>
        <p:txBody>
          <a:bodyPr wrap="square" lIns="0" tIns="0" rIns="0" bIns="0" anchor="t">
            <a:spAutoFit/>
          </a:bodyPr>
          <a:lstStyle/>
          <a:p>
            <a:pPr algn="l">
              <a:lnSpc>
                <a:spcPct val="112000"/>
              </a:lnSpc>
              <a:spcBef>
                <a:spcPts val="0"/>
              </a:spcBef>
              <a:spcAft>
                <a:spcPts val="0"/>
              </a:spcAft>
              <a:defRPr sz="2000" b="0">
                <a:solidFill>
                  <a:srgbClr val="000000"/>
                </a:solidFill>
                <a:latin typeface="Times New Roman"/>
              </a:defRPr>
            </a:pPr>
            <a:r>
              <a:t>Animal availability is updated after the approved adoption is completed.</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Technology Stack:</a:t>
            </a:r>
          </a:p>
        </p:txBody>
      </p:sp>
      <p:sp>
        <p:nvSpPr>
          <p:cNvPr id="6" name="TextBox 5"/>
          <p:cNvSpPr txBox="1"/>
          <p:nvPr/>
        </p:nvSpPr>
        <p:spPr>
          <a:xfrm>
            <a:off x="886968" y="1481328"/>
            <a:ext cx="3090672" cy="411480"/>
          </a:xfrm>
          <a:prstGeom prst="rect">
            <a:avLst/>
          </a:prstGeom>
          <a:noFill/>
          <a:effectLst/>
        </p:spPr>
        <p:txBody>
          <a:bodyPr wrap="square" lIns="0" tIns="0" rIns="0" bIns="0" anchor="t">
            <a:spAutoFit/>
          </a:bodyPr>
          <a:lstStyle/>
          <a:p>
            <a:pPr algn="l">
              <a:lnSpc>
                <a:spcPct val="112000"/>
              </a:lnSpc>
              <a:spcBef>
                <a:spcPts val="0"/>
              </a:spcBef>
              <a:spcAft>
                <a:spcPts val="0"/>
              </a:spcAft>
              <a:defRPr sz="2400" b="1">
                <a:solidFill>
                  <a:srgbClr val="000000"/>
                </a:solidFill>
                <a:latin typeface="Times New Roman"/>
              </a:defRPr>
            </a:pPr>
            <a:r>
              <a:t>Frontend:</a:t>
            </a:r>
          </a:p>
        </p:txBody>
      </p:sp>
      <p:sp>
        <p:nvSpPr>
          <p:cNvPr id="7" name="TextBox 6"/>
          <p:cNvSpPr txBox="1"/>
          <p:nvPr/>
        </p:nvSpPr>
        <p:spPr>
          <a:xfrm>
            <a:off x="3776472" y="1508760"/>
            <a:ext cx="7324344" cy="382412"/>
          </a:xfrm>
          <a:prstGeom prst="rect">
            <a:avLst/>
          </a:prstGeom>
          <a:noFill/>
          <a:effectLst/>
        </p:spPr>
        <p:txBody>
          <a:bodyPr wrap="square" lIns="0" tIns="0" rIns="0" bIns="0" anchor="t">
            <a:spAutoFit/>
          </a:bodyPr>
          <a:lstStyle/>
          <a:p>
            <a:pPr algn="l">
              <a:lnSpc>
                <a:spcPct val="112000"/>
              </a:lnSpc>
              <a:spcBef>
                <a:spcPts val="0"/>
              </a:spcBef>
              <a:spcAft>
                <a:spcPts val="0"/>
              </a:spcAft>
              <a:defRPr sz="2400" b="0">
                <a:solidFill>
                  <a:srgbClr val="000000"/>
                </a:solidFill>
                <a:latin typeface="Times New Roman"/>
              </a:defRPr>
            </a:pPr>
            <a:r>
              <a:rPr lang="en-US" dirty="0"/>
              <a:t>JavaScript</a:t>
            </a:r>
            <a:r>
              <a:rPr dirty="0"/>
              <a:t>, Vite </a:t>
            </a:r>
          </a:p>
        </p:txBody>
      </p:sp>
      <p:sp>
        <p:nvSpPr>
          <p:cNvPr id="8" name="TextBox 7"/>
          <p:cNvSpPr txBox="1"/>
          <p:nvPr/>
        </p:nvSpPr>
        <p:spPr>
          <a:xfrm>
            <a:off x="886968" y="2240280"/>
            <a:ext cx="3090672" cy="411480"/>
          </a:xfrm>
          <a:prstGeom prst="rect">
            <a:avLst/>
          </a:prstGeom>
          <a:noFill/>
          <a:effectLst/>
        </p:spPr>
        <p:txBody>
          <a:bodyPr wrap="square" lIns="0" tIns="0" rIns="0" bIns="0" anchor="t">
            <a:spAutoFit/>
          </a:bodyPr>
          <a:lstStyle/>
          <a:p>
            <a:pPr algn="l">
              <a:lnSpc>
                <a:spcPct val="112000"/>
              </a:lnSpc>
              <a:spcBef>
                <a:spcPts val="0"/>
              </a:spcBef>
              <a:spcAft>
                <a:spcPts val="0"/>
              </a:spcAft>
              <a:defRPr sz="2400" b="1">
                <a:solidFill>
                  <a:srgbClr val="000000"/>
                </a:solidFill>
                <a:latin typeface="Times New Roman"/>
              </a:defRPr>
            </a:pPr>
            <a:r>
              <a:t>Backend:</a:t>
            </a:r>
          </a:p>
        </p:txBody>
      </p:sp>
      <p:sp>
        <p:nvSpPr>
          <p:cNvPr id="9" name="TextBox 8"/>
          <p:cNvSpPr txBox="1"/>
          <p:nvPr/>
        </p:nvSpPr>
        <p:spPr>
          <a:xfrm>
            <a:off x="3776472" y="2240280"/>
            <a:ext cx="7324344" cy="448056"/>
          </a:xfrm>
          <a:prstGeom prst="rect">
            <a:avLst/>
          </a:prstGeom>
          <a:noFill/>
          <a:effectLst/>
        </p:spPr>
        <p:txBody>
          <a:bodyPr wrap="square" lIns="0" tIns="0" rIns="0" bIns="0" anchor="t">
            <a:spAutoFit/>
          </a:bodyPr>
          <a:lstStyle/>
          <a:p>
            <a:pPr algn="l">
              <a:lnSpc>
                <a:spcPct val="112000"/>
              </a:lnSpc>
              <a:spcBef>
                <a:spcPts val="0"/>
              </a:spcBef>
              <a:spcAft>
                <a:spcPts val="0"/>
              </a:spcAft>
              <a:defRPr sz="2400" b="0">
                <a:solidFill>
                  <a:srgbClr val="000000"/>
                </a:solidFill>
                <a:latin typeface="Times New Roman"/>
              </a:defRPr>
            </a:pPr>
            <a:r>
              <a:rPr dirty="0" err="1"/>
              <a:t>FastAPI</a:t>
            </a:r>
            <a:endParaRPr dirty="0"/>
          </a:p>
        </p:txBody>
      </p:sp>
      <p:sp>
        <p:nvSpPr>
          <p:cNvPr id="10" name="TextBox 9"/>
          <p:cNvSpPr txBox="1"/>
          <p:nvPr/>
        </p:nvSpPr>
        <p:spPr>
          <a:xfrm>
            <a:off x="886968" y="2999232"/>
            <a:ext cx="3090672" cy="411480"/>
          </a:xfrm>
          <a:prstGeom prst="rect">
            <a:avLst/>
          </a:prstGeom>
          <a:noFill/>
          <a:effectLst/>
        </p:spPr>
        <p:txBody>
          <a:bodyPr wrap="square" lIns="0" tIns="0" rIns="0" bIns="0" anchor="t">
            <a:spAutoFit/>
          </a:bodyPr>
          <a:lstStyle/>
          <a:p>
            <a:pPr algn="l">
              <a:lnSpc>
                <a:spcPct val="112000"/>
              </a:lnSpc>
              <a:spcBef>
                <a:spcPts val="0"/>
              </a:spcBef>
              <a:spcAft>
                <a:spcPts val="0"/>
              </a:spcAft>
              <a:defRPr sz="2400" b="1">
                <a:solidFill>
                  <a:srgbClr val="000000"/>
                </a:solidFill>
                <a:latin typeface="Times New Roman"/>
              </a:defRPr>
            </a:pPr>
            <a:r>
              <a:t>Database:</a:t>
            </a:r>
          </a:p>
        </p:txBody>
      </p:sp>
      <p:sp>
        <p:nvSpPr>
          <p:cNvPr id="11" name="TextBox 10"/>
          <p:cNvSpPr txBox="1"/>
          <p:nvPr/>
        </p:nvSpPr>
        <p:spPr>
          <a:xfrm>
            <a:off x="3776472" y="2999232"/>
            <a:ext cx="7324344" cy="382412"/>
          </a:xfrm>
          <a:prstGeom prst="rect">
            <a:avLst/>
          </a:prstGeom>
          <a:noFill/>
          <a:effectLst/>
        </p:spPr>
        <p:txBody>
          <a:bodyPr wrap="square" lIns="0" tIns="0" rIns="0" bIns="0" anchor="t">
            <a:spAutoFit/>
          </a:bodyPr>
          <a:lstStyle/>
          <a:p>
            <a:pPr>
              <a:defRPr sz="2400" b="0">
                <a:solidFill>
                  <a:srgbClr val="000000"/>
                </a:solidFill>
                <a:latin typeface="Times New Roman"/>
              </a:defRPr>
            </a:pPr>
            <a:r>
              <a:rPr lang="en-US" dirty="0" err="1"/>
              <a:t>Supabase</a:t>
            </a:r>
            <a:r>
              <a:rPr lang="en-US" dirty="0"/>
              <a:t> </a:t>
            </a:r>
            <a:r>
              <a:rPr lang="en-IN" sz="2400" dirty="0">
                <a:solidFill>
                  <a:srgbClr val="000000"/>
                </a:solidFill>
                <a:latin typeface="Times New Roman"/>
              </a:rPr>
              <a:t>PostgreSQL (Postgres)</a:t>
            </a:r>
            <a:endParaRPr dirty="0"/>
          </a:p>
        </p:txBody>
      </p:sp>
      <p:sp>
        <p:nvSpPr>
          <p:cNvPr id="12" name="TextBox 11"/>
          <p:cNvSpPr txBox="1"/>
          <p:nvPr/>
        </p:nvSpPr>
        <p:spPr>
          <a:xfrm>
            <a:off x="886968" y="3758183"/>
            <a:ext cx="3090672" cy="411480"/>
          </a:xfrm>
          <a:prstGeom prst="rect">
            <a:avLst/>
          </a:prstGeom>
          <a:noFill/>
          <a:effectLst/>
        </p:spPr>
        <p:txBody>
          <a:bodyPr wrap="square" lIns="0" tIns="0" rIns="0" bIns="0" anchor="t">
            <a:spAutoFit/>
          </a:bodyPr>
          <a:lstStyle/>
          <a:p>
            <a:pPr algn="l">
              <a:lnSpc>
                <a:spcPct val="112000"/>
              </a:lnSpc>
              <a:spcBef>
                <a:spcPts val="0"/>
              </a:spcBef>
              <a:spcAft>
                <a:spcPts val="0"/>
              </a:spcAft>
              <a:defRPr sz="2400" b="1">
                <a:solidFill>
                  <a:srgbClr val="000000"/>
                </a:solidFill>
                <a:latin typeface="Times New Roman"/>
              </a:defRPr>
            </a:pPr>
            <a:r>
              <a:t>Authentication:</a:t>
            </a:r>
          </a:p>
        </p:txBody>
      </p:sp>
      <p:sp>
        <p:nvSpPr>
          <p:cNvPr id="13" name="TextBox 12"/>
          <p:cNvSpPr txBox="1"/>
          <p:nvPr/>
        </p:nvSpPr>
        <p:spPr>
          <a:xfrm>
            <a:off x="3776472" y="3758183"/>
            <a:ext cx="7324344" cy="382412"/>
          </a:xfrm>
          <a:prstGeom prst="rect">
            <a:avLst/>
          </a:prstGeom>
          <a:noFill/>
          <a:effectLst/>
        </p:spPr>
        <p:txBody>
          <a:bodyPr wrap="square" lIns="0" tIns="0" rIns="0" bIns="0" anchor="t">
            <a:spAutoFit/>
          </a:bodyPr>
          <a:lstStyle/>
          <a:p>
            <a:pPr algn="l">
              <a:lnSpc>
                <a:spcPct val="112000"/>
              </a:lnSpc>
              <a:spcBef>
                <a:spcPts val="0"/>
              </a:spcBef>
              <a:spcAft>
                <a:spcPts val="0"/>
              </a:spcAft>
              <a:defRPr sz="2400" b="0">
                <a:solidFill>
                  <a:srgbClr val="000000"/>
                </a:solidFill>
                <a:latin typeface="Times New Roman"/>
              </a:defRPr>
            </a:pPr>
            <a:r>
              <a:rPr lang="en-US" dirty="0" err="1"/>
              <a:t>Supabase</a:t>
            </a:r>
            <a:endParaRPr dirty="0"/>
          </a:p>
        </p:txBody>
      </p:sp>
      <p:sp>
        <p:nvSpPr>
          <p:cNvPr id="14" name="TextBox 13"/>
          <p:cNvSpPr txBox="1"/>
          <p:nvPr/>
        </p:nvSpPr>
        <p:spPr>
          <a:xfrm>
            <a:off x="886968" y="4517136"/>
            <a:ext cx="3090672" cy="411480"/>
          </a:xfrm>
          <a:prstGeom prst="rect">
            <a:avLst/>
          </a:prstGeom>
          <a:noFill/>
          <a:effectLst/>
        </p:spPr>
        <p:txBody>
          <a:bodyPr wrap="square" lIns="0" tIns="0" rIns="0" bIns="0" anchor="t">
            <a:spAutoFit/>
          </a:bodyPr>
          <a:lstStyle/>
          <a:p>
            <a:pPr algn="l">
              <a:lnSpc>
                <a:spcPct val="112000"/>
              </a:lnSpc>
              <a:spcBef>
                <a:spcPts val="0"/>
              </a:spcBef>
              <a:spcAft>
                <a:spcPts val="0"/>
              </a:spcAft>
              <a:defRPr sz="2400" b="1">
                <a:solidFill>
                  <a:srgbClr val="000000"/>
                </a:solidFill>
                <a:latin typeface="Times New Roman"/>
              </a:defRPr>
            </a:pPr>
            <a:r>
              <a:t>Version Control:</a:t>
            </a:r>
          </a:p>
        </p:txBody>
      </p:sp>
      <p:sp>
        <p:nvSpPr>
          <p:cNvPr id="15" name="TextBox 14"/>
          <p:cNvSpPr txBox="1"/>
          <p:nvPr/>
        </p:nvSpPr>
        <p:spPr>
          <a:xfrm>
            <a:off x="3776472" y="4517136"/>
            <a:ext cx="7324344" cy="448056"/>
          </a:xfrm>
          <a:prstGeom prst="rect">
            <a:avLst/>
          </a:prstGeom>
          <a:noFill/>
          <a:effectLst/>
        </p:spPr>
        <p:txBody>
          <a:bodyPr wrap="square" lIns="0" tIns="0" rIns="0" bIns="0" anchor="t">
            <a:spAutoFit/>
          </a:bodyPr>
          <a:lstStyle/>
          <a:p>
            <a:pPr algn="l">
              <a:lnSpc>
                <a:spcPct val="112000"/>
              </a:lnSpc>
              <a:spcBef>
                <a:spcPts val="0"/>
              </a:spcBef>
              <a:spcAft>
                <a:spcPts val="0"/>
              </a:spcAft>
              <a:defRPr sz="2400" b="0">
                <a:solidFill>
                  <a:srgbClr val="000000"/>
                </a:solidFill>
                <a:latin typeface="Times New Roman"/>
              </a:defRPr>
            </a:pPr>
            <a:r>
              <a:rPr dirty="0"/>
              <a:t>GitHub</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dirty="0"/>
              <a:t>Current Progress &amp; Certification:</a:t>
            </a:r>
          </a:p>
        </p:txBody>
      </p:sp>
      <p:sp>
        <p:nvSpPr>
          <p:cNvPr id="6" name="TextBox 5"/>
          <p:cNvSpPr txBox="1"/>
          <p:nvPr/>
        </p:nvSpPr>
        <p:spPr>
          <a:xfrm>
            <a:off x="859536" y="1362456"/>
            <a:ext cx="4828032" cy="398314"/>
          </a:xfrm>
          <a:prstGeom prst="rect">
            <a:avLst/>
          </a:prstGeom>
          <a:noFill/>
          <a:effectLst/>
        </p:spPr>
        <p:txBody>
          <a:bodyPr wrap="square" lIns="0" tIns="0" rIns="0" bIns="0" anchor="t">
            <a:spAutoFit/>
          </a:bodyPr>
          <a:lstStyle/>
          <a:p>
            <a:pPr algn="l">
              <a:lnSpc>
                <a:spcPct val="112000"/>
              </a:lnSpc>
              <a:spcBef>
                <a:spcPts val="0"/>
              </a:spcBef>
              <a:spcAft>
                <a:spcPts val="0"/>
              </a:spcAft>
              <a:defRPr sz="2500" b="1">
                <a:solidFill>
                  <a:srgbClr val="000000"/>
                </a:solidFill>
                <a:latin typeface="Times New Roman"/>
              </a:defRPr>
            </a:pPr>
            <a:r>
              <a:rPr dirty="0"/>
              <a:t>Project Progress: </a:t>
            </a:r>
            <a:r>
              <a:rPr lang="en-US" dirty="0"/>
              <a:t>7</a:t>
            </a:r>
            <a:r>
              <a:rPr dirty="0"/>
              <a:t>0%</a:t>
            </a:r>
          </a:p>
        </p:txBody>
      </p:sp>
      <p:sp>
        <p:nvSpPr>
          <p:cNvPr id="7" name="Rectangle 6"/>
          <p:cNvSpPr/>
          <p:nvPr/>
        </p:nvSpPr>
        <p:spPr>
          <a:xfrm>
            <a:off x="877824" y="1938528"/>
            <a:ext cx="4343400" cy="164592"/>
          </a:xfrm>
          <a:prstGeom prst="rect">
            <a:avLst/>
          </a:prstGeom>
          <a:solidFill>
            <a:srgbClr val="E4E4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877823" y="1938528"/>
            <a:ext cx="3369711" cy="164592"/>
          </a:xfrm>
          <a:prstGeom prst="rect">
            <a:avLst/>
          </a:prstGeom>
          <a:solidFill>
            <a:srgbClr val="3183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86968" y="2304288"/>
            <a:ext cx="4389120" cy="256032"/>
          </a:xfrm>
          <a:prstGeom prst="rect">
            <a:avLst/>
          </a:prstGeom>
          <a:noFill/>
          <a:effectLst/>
        </p:spPr>
        <p:txBody>
          <a:bodyPr wrap="square" lIns="0" tIns="0" rIns="0" bIns="0" anchor="t">
            <a:spAutoFit/>
          </a:bodyPr>
          <a:lstStyle/>
          <a:p>
            <a:pPr algn="l">
              <a:lnSpc>
                <a:spcPct val="112000"/>
              </a:lnSpc>
              <a:spcBef>
                <a:spcPts val="0"/>
              </a:spcBef>
              <a:spcAft>
                <a:spcPts val="0"/>
              </a:spcAft>
              <a:defRPr sz="1600" b="0">
                <a:solidFill>
                  <a:srgbClr val="353535"/>
                </a:solidFill>
                <a:latin typeface="Times New Roman"/>
              </a:defRPr>
            </a:pPr>
            <a:r>
              <a:rPr dirty="0"/>
              <a:t>Team-reported completion</a:t>
            </a:r>
          </a:p>
        </p:txBody>
      </p:sp>
      <p:sp>
        <p:nvSpPr>
          <p:cNvPr id="10" name="Freeform 9"/>
          <p:cNvSpPr/>
          <p:nvPr/>
        </p:nvSpPr>
        <p:spPr>
          <a:xfrm>
            <a:off x="935736" y="2904744"/>
            <a:ext cx="129540" cy="99060"/>
          </a:xfrm>
          <a:custGeom>
            <a:avLst/>
            <a:gdLst/>
            <a:ahLst/>
            <a:cxnLst/>
            <a:rect l="l" t="t" r="r" b="b"/>
            <a:pathLst>
              <a:path w="129540" h="99060">
                <a:moveTo>
                  <a:pt x="0" y="53340"/>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1225296" y="2816352"/>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rPr dirty="0"/>
              <a:t>Literature Survey</a:t>
            </a:r>
          </a:p>
        </p:txBody>
      </p:sp>
      <p:sp>
        <p:nvSpPr>
          <p:cNvPr id="12" name="Freeform 11"/>
          <p:cNvSpPr/>
          <p:nvPr/>
        </p:nvSpPr>
        <p:spPr>
          <a:xfrm>
            <a:off x="935736" y="3325368"/>
            <a:ext cx="129540" cy="99060"/>
          </a:xfrm>
          <a:custGeom>
            <a:avLst/>
            <a:gdLst/>
            <a:ahLst/>
            <a:cxnLst/>
            <a:rect l="l" t="t" r="r" b="b"/>
            <a:pathLst>
              <a:path w="129540" h="99060">
                <a:moveTo>
                  <a:pt x="0" y="53340"/>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1225296" y="3236976"/>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rPr dirty="0"/>
              <a:t>Requirement Analysis</a:t>
            </a:r>
          </a:p>
        </p:txBody>
      </p:sp>
      <p:sp>
        <p:nvSpPr>
          <p:cNvPr id="14" name="Freeform 13"/>
          <p:cNvSpPr/>
          <p:nvPr/>
        </p:nvSpPr>
        <p:spPr>
          <a:xfrm>
            <a:off x="935736" y="3745992"/>
            <a:ext cx="129540" cy="99060"/>
          </a:xfrm>
          <a:custGeom>
            <a:avLst/>
            <a:gdLst/>
            <a:ahLst/>
            <a:cxnLst/>
            <a:rect l="l" t="t" r="r" b="b"/>
            <a:pathLst>
              <a:path w="129540" h="99060">
                <a:moveTo>
                  <a:pt x="0" y="53339"/>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1225296" y="3657600"/>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rPr dirty="0"/>
              <a:t>UI Design</a:t>
            </a:r>
          </a:p>
        </p:txBody>
      </p:sp>
      <p:sp>
        <p:nvSpPr>
          <p:cNvPr id="16" name="Freeform 15"/>
          <p:cNvSpPr/>
          <p:nvPr/>
        </p:nvSpPr>
        <p:spPr>
          <a:xfrm>
            <a:off x="935736" y="4166616"/>
            <a:ext cx="129540" cy="99060"/>
          </a:xfrm>
          <a:custGeom>
            <a:avLst/>
            <a:gdLst/>
            <a:ahLst/>
            <a:cxnLst/>
            <a:rect l="l" t="t" r="r" b="b"/>
            <a:pathLst>
              <a:path w="129540" h="99060">
                <a:moveTo>
                  <a:pt x="0" y="53339"/>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1225296" y="4078224"/>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rPr dirty="0"/>
              <a:t>Backend Development</a:t>
            </a:r>
          </a:p>
        </p:txBody>
      </p:sp>
      <p:sp>
        <p:nvSpPr>
          <p:cNvPr id="18" name="Freeform 17"/>
          <p:cNvSpPr/>
          <p:nvPr/>
        </p:nvSpPr>
        <p:spPr>
          <a:xfrm>
            <a:off x="935736" y="4587240"/>
            <a:ext cx="129540" cy="99060"/>
          </a:xfrm>
          <a:custGeom>
            <a:avLst/>
            <a:gdLst/>
            <a:ahLst/>
            <a:cxnLst/>
            <a:rect l="l" t="t" r="r" b="b"/>
            <a:pathLst>
              <a:path w="129540" h="99060">
                <a:moveTo>
                  <a:pt x="0" y="53339"/>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1225296" y="4498848"/>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Authentication</a:t>
            </a:r>
          </a:p>
        </p:txBody>
      </p:sp>
      <p:sp>
        <p:nvSpPr>
          <p:cNvPr id="20" name="Freeform 19"/>
          <p:cNvSpPr/>
          <p:nvPr/>
        </p:nvSpPr>
        <p:spPr>
          <a:xfrm>
            <a:off x="935736" y="5007864"/>
            <a:ext cx="129540" cy="99060"/>
          </a:xfrm>
          <a:custGeom>
            <a:avLst/>
            <a:gdLst/>
            <a:ahLst/>
            <a:cxnLst/>
            <a:rect l="l" t="t" r="r" b="b"/>
            <a:pathLst>
              <a:path w="129540" h="99060">
                <a:moveTo>
                  <a:pt x="0" y="53340"/>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1225296" y="4919472"/>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Firebase Integration</a:t>
            </a:r>
          </a:p>
        </p:txBody>
      </p:sp>
      <p:sp>
        <p:nvSpPr>
          <p:cNvPr id="22" name="Freeform 21"/>
          <p:cNvSpPr/>
          <p:nvPr/>
        </p:nvSpPr>
        <p:spPr>
          <a:xfrm>
            <a:off x="935736" y="5428488"/>
            <a:ext cx="129540" cy="99060"/>
          </a:xfrm>
          <a:custGeom>
            <a:avLst/>
            <a:gdLst/>
            <a:ahLst/>
            <a:cxnLst/>
            <a:rect l="l" t="t" r="r" b="b"/>
            <a:pathLst>
              <a:path w="129540" h="99060">
                <a:moveTo>
                  <a:pt x="0" y="53339"/>
                </a:moveTo>
                <a:lnTo>
                  <a:pt x="45719" y="99060"/>
                </a:lnTo>
                <a:lnTo>
                  <a:pt x="129540" y="0"/>
                </a:lnTo>
              </a:path>
            </a:pathLst>
          </a:custGeom>
          <a:noFill/>
          <a:ln w="21590">
            <a:solidFill>
              <a:srgbClr val="31837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1225296" y="5340096"/>
            <a:ext cx="4069080" cy="32004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Testing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E13950-34B0-DBBE-8AA6-F525E94CAF38}"/>
              </a:ext>
            </a:extLst>
          </p:cNvPr>
          <p:cNvSpPr>
            <a:spLocks noGrp="1"/>
          </p:cNvSpPr>
          <p:nvPr>
            <p:ph type="title"/>
          </p:nvPr>
        </p:nvSpPr>
        <p:spPr>
          <a:xfrm>
            <a:off x="683342" y="579438"/>
            <a:ext cx="8229600" cy="1143000"/>
          </a:xfrm>
        </p:spPr>
        <p:txBody>
          <a:bodyPr>
            <a:normAutofit/>
          </a:bodyPr>
          <a:lstStyle/>
          <a:p>
            <a:pPr algn="l"/>
            <a:r>
              <a:rPr lang="en-IN" sz="3200" b="1" u="sng" dirty="0">
                <a:latin typeface="Times New Roman" panose="02020603050405020304" pitchFamily="18" charset="0"/>
                <a:cs typeface="Times New Roman" panose="02020603050405020304" pitchFamily="18" charset="0"/>
              </a:rPr>
              <a:t>OUTPUT</a:t>
            </a:r>
            <a:r>
              <a:rPr lang="en-IN" sz="3200" b="1" u="sng" dirty="0"/>
              <a:t>:</a:t>
            </a:r>
            <a:br>
              <a:rPr lang="en-IN" sz="3200" b="1" u="sng" dirty="0"/>
            </a:br>
            <a:endParaRPr lang="en-IN" sz="3200" b="1" dirty="0"/>
          </a:p>
        </p:txBody>
      </p:sp>
      <p:pic>
        <p:nvPicPr>
          <p:cNvPr id="7" name="Picture 6">
            <a:extLst>
              <a:ext uri="{FF2B5EF4-FFF2-40B4-BE49-F238E27FC236}">
                <a16:creationId xmlns:a16="http://schemas.microsoft.com/office/drawing/2014/main" id="{837D1790-F5F0-32A5-93C5-871B3036049E}"/>
              </a:ext>
            </a:extLst>
          </p:cNvPr>
          <p:cNvPicPr>
            <a:picLocks noChangeAspect="1"/>
          </p:cNvPicPr>
          <p:nvPr/>
        </p:nvPicPr>
        <p:blipFill>
          <a:blip r:embed="rId2"/>
          <a:stretch>
            <a:fillRect/>
          </a:stretch>
        </p:blipFill>
        <p:spPr>
          <a:xfrm>
            <a:off x="1044531" y="1353932"/>
            <a:ext cx="3753611" cy="2183223"/>
          </a:xfrm>
          <a:prstGeom prst="rect">
            <a:avLst/>
          </a:prstGeom>
        </p:spPr>
      </p:pic>
      <p:pic>
        <p:nvPicPr>
          <p:cNvPr id="9" name="Picture 8">
            <a:extLst>
              <a:ext uri="{FF2B5EF4-FFF2-40B4-BE49-F238E27FC236}">
                <a16:creationId xmlns:a16="http://schemas.microsoft.com/office/drawing/2014/main" id="{D2AF050A-9B8E-53B5-08E4-7FAC0CC7AC1E}"/>
              </a:ext>
            </a:extLst>
          </p:cNvPr>
          <p:cNvPicPr>
            <a:picLocks noChangeAspect="1"/>
          </p:cNvPicPr>
          <p:nvPr/>
        </p:nvPicPr>
        <p:blipFill>
          <a:blip r:embed="rId3"/>
          <a:stretch>
            <a:fillRect/>
          </a:stretch>
        </p:blipFill>
        <p:spPr>
          <a:xfrm>
            <a:off x="6253316" y="1353932"/>
            <a:ext cx="4109598" cy="2183223"/>
          </a:xfrm>
          <a:prstGeom prst="rect">
            <a:avLst/>
          </a:prstGeom>
        </p:spPr>
      </p:pic>
      <p:pic>
        <p:nvPicPr>
          <p:cNvPr id="11" name="Picture 10">
            <a:extLst>
              <a:ext uri="{FF2B5EF4-FFF2-40B4-BE49-F238E27FC236}">
                <a16:creationId xmlns:a16="http://schemas.microsoft.com/office/drawing/2014/main" id="{A2E0F2F7-3CDD-CA72-C873-F279BEF2A903}"/>
              </a:ext>
            </a:extLst>
          </p:cNvPr>
          <p:cNvPicPr>
            <a:picLocks noChangeAspect="1"/>
          </p:cNvPicPr>
          <p:nvPr/>
        </p:nvPicPr>
        <p:blipFill>
          <a:blip r:embed="rId4"/>
          <a:stretch>
            <a:fillRect/>
          </a:stretch>
        </p:blipFill>
        <p:spPr>
          <a:xfrm>
            <a:off x="1044531" y="3985496"/>
            <a:ext cx="3753611" cy="2183223"/>
          </a:xfrm>
          <a:prstGeom prst="rect">
            <a:avLst/>
          </a:prstGeom>
        </p:spPr>
      </p:pic>
      <p:pic>
        <p:nvPicPr>
          <p:cNvPr id="13" name="Picture 12">
            <a:extLst>
              <a:ext uri="{FF2B5EF4-FFF2-40B4-BE49-F238E27FC236}">
                <a16:creationId xmlns:a16="http://schemas.microsoft.com/office/drawing/2014/main" id="{652D9205-D309-BAAD-337D-00D3E2BEEED1}"/>
              </a:ext>
            </a:extLst>
          </p:cNvPr>
          <p:cNvPicPr>
            <a:picLocks noChangeAspect="1"/>
          </p:cNvPicPr>
          <p:nvPr/>
        </p:nvPicPr>
        <p:blipFill>
          <a:blip r:embed="rId5"/>
          <a:stretch>
            <a:fillRect/>
          </a:stretch>
        </p:blipFill>
        <p:spPr>
          <a:xfrm>
            <a:off x="6253316" y="3985495"/>
            <a:ext cx="4109598" cy="2183224"/>
          </a:xfrm>
          <a:prstGeom prst="rect">
            <a:avLst/>
          </a:prstGeom>
        </p:spPr>
      </p:pic>
    </p:spTree>
    <p:extLst>
      <p:ext uri="{BB962C8B-B14F-4D97-AF65-F5344CB8AC3E}">
        <p14:creationId xmlns:p14="http://schemas.microsoft.com/office/powerpoint/2010/main" val="9953382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927080" cy="594360"/>
          </a:xfrm>
          <a:prstGeom prst="rect">
            <a:avLst/>
          </a:prstGeom>
          <a:noFill/>
          <a:effectLst/>
        </p:spPr>
        <p:txBody>
          <a:bodyPr wrap="square" lIns="0" tIns="0" rIns="0" bIns="0" anchor="t">
            <a:spAutoFit/>
          </a:bodyPr>
          <a:lstStyle/>
          <a:p>
            <a:pPr algn="l">
              <a:lnSpc>
                <a:spcPct val="112000"/>
              </a:lnSpc>
              <a:spcBef>
                <a:spcPts val="0"/>
              </a:spcBef>
              <a:spcAft>
                <a:spcPts val="0"/>
              </a:spcAft>
              <a:defRPr sz="3200" b="1">
                <a:solidFill>
                  <a:srgbClr val="000000"/>
                </a:solidFill>
                <a:latin typeface="Times New Roman"/>
              </a:defRPr>
            </a:pPr>
            <a:r>
              <a:rPr u="sng"/>
              <a:t>Conclusion &amp; Future Work:</a:t>
            </a:r>
          </a:p>
        </p:txBody>
      </p:sp>
      <p:sp>
        <p:nvSpPr>
          <p:cNvPr id="6" name="TextBox 5"/>
          <p:cNvSpPr txBox="1"/>
          <p:nvPr/>
        </p:nvSpPr>
        <p:spPr>
          <a:xfrm>
            <a:off x="841248" y="1362456"/>
            <a:ext cx="10515600" cy="1170432"/>
          </a:xfrm>
          <a:prstGeom prst="rect">
            <a:avLst/>
          </a:prstGeom>
          <a:noFill/>
          <a:effectLst/>
        </p:spPr>
        <p:txBody>
          <a:bodyPr wrap="square" lIns="0" tIns="0" rIns="0" bIns="0" anchor="t">
            <a:spAutoFit/>
          </a:bodyPr>
          <a:lstStyle/>
          <a:p>
            <a:pPr algn="l">
              <a:lnSpc>
                <a:spcPct val="112000"/>
              </a:lnSpc>
              <a:spcBef>
                <a:spcPts val="0"/>
              </a:spcBef>
              <a:spcAft>
                <a:spcPts val="0"/>
              </a:spcAft>
              <a:defRPr sz="2300" b="0">
                <a:solidFill>
                  <a:srgbClr val="000000"/>
                </a:solidFill>
                <a:latin typeface="Times New Roman"/>
              </a:defRPr>
            </a:pPr>
            <a:r>
              <a:t>AniResQ brings animal rescue, volunteer coordination, shelter management and pet adoption into one centralized ecosystem. Its proposed workflow maintains continuity from the first report to rescue, treatment and adoption.</a:t>
            </a:r>
          </a:p>
        </p:txBody>
      </p:sp>
      <p:sp>
        <p:nvSpPr>
          <p:cNvPr id="7" name="TextBox 6"/>
          <p:cNvSpPr txBox="1"/>
          <p:nvPr/>
        </p:nvSpPr>
        <p:spPr>
          <a:xfrm>
            <a:off x="841248" y="2889504"/>
            <a:ext cx="10515600" cy="411480"/>
          </a:xfrm>
          <a:prstGeom prst="rect">
            <a:avLst/>
          </a:prstGeom>
          <a:noFill/>
          <a:effectLst/>
        </p:spPr>
        <p:txBody>
          <a:bodyPr wrap="square" lIns="0" tIns="0" rIns="0" bIns="0" anchor="t">
            <a:spAutoFit/>
          </a:bodyPr>
          <a:lstStyle/>
          <a:p>
            <a:pPr algn="l">
              <a:lnSpc>
                <a:spcPct val="112000"/>
              </a:lnSpc>
              <a:spcBef>
                <a:spcPts val="0"/>
              </a:spcBef>
              <a:spcAft>
                <a:spcPts val="0"/>
              </a:spcAft>
              <a:defRPr sz="2400" b="1">
                <a:solidFill>
                  <a:srgbClr val="000000"/>
                </a:solidFill>
                <a:latin typeface="Times New Roman"/>
              </a:defRPr>
            </a:pPr>
            <a:r>
              <a:t>Future Work:</a:t>
            </a:r>
          </a:p>
        </p:txBody>
      </p:sp>
      <p:sp>
        <p:nvSpPr>
          <p:cNvPr id="8" name="TextBox 7"/>
          <p:cNvSpPr txBox="1"/>
          <p:nvPr/>
        </p:nvSpPr>
        <p:spPr>
          <a:xfrm>
            <a:off x="877824" y="3520440"/>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9" name="TextBox 8"/>
          <p:cNvSpPr txBox="1"/>
          <p:nvPr/>
        </p:nvSpPr>
        <p:spPr>
          <a:xfrm>
            <a:off x="1152144" y="3520440"/>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Mobile Application</a:t>
            </a:r>
          </a:p>
        </p:txBody>
      </p:sp>
      <p:sp>
        <p:nvSpPr>
          <p:cNvPr id="10" name="TextBox 9"/>
          <p:cNvSpPr txBox="1"/>
          <p:nvPr/>
        </p:nvSpPr>
        <p:spPr>
          <a:xfrm>
            <a:off x="877824" y="3941064"/>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1" name="TextBox 10"/>
          <p:cNvSpPr txBox="1"/>
          <p:nvPr/>
        </p:nvSpPr>
        <p:spPr>
          <a:xfrm>
            <a:off x="1152144" y="3941064"/>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AI-Based Rescue Prioritization</a:t>
            </a:r>
          </a:p>
        </p:txBody>
      </p:sp>
      <p:sp>
        <p:nvSpPr>
          <p:cNvPr id="12" name="TextBox 11"/>
          <p:cNvSpPr txBox="1"/>
          <p:nvPr/>
        </p:nvSpPr>
        <p:spPr>
          <a:xfrm>
            <a:off x="877824" y="4361688"/>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3" name="TextBox 12"/>
          <p:cNvSpPr txBox="1"/>
          <p:nvPr/>
        </p:nvSpPr>
        <p:spPr>
          <a:xfrm>
            <a:off x="1152144" y="4361688"/>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Veterinary Appointment Booking</a:t>
            </a:r>
          </a:p>
        </p:txBody>
      </p:sp>
      <p:sp>
        <p:nvSpPr>
          <p:cNvPr id="14" name="TextBox 13"/>
          <p:cNvSpPr txBox="1"/>
          <p:nvPr/>
        </p:nvSpPr>
        <p:spPr>
          <a:xfrm>
            <a:off x="877824" y="4782312"/>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5" name="TextBox 14"/>
          <p:cNvSpPr txBox="1"/>
          <p:nvPr/>
        </p:nvSpPr>
        <p:spPr>
          <a:xfrm>
            <a:off x="1152144" y="4782312"/>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Real-Time Notifications</a:t>
            </a:r>
          </a:p>
        </p:txBody>
      </p:sp>
      <p:sp>
        <p:nvSpPr>
          <p:cNvPr id="16" name="TextBox 15"/>
          <p:cNvSpPr txBox="1"/>
          <p:nvPr/>
        </p:nvSpPr>
        <p:spPr>
          <a:xfrm>
            <a:off x="877824" y="5202936"/>
            <a:ext cx="201168" cy="310896"/>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t>
            </a:r>
          </a:p>
        </p:txBody>
      </p:sp>
      <p:sp>
        <p:nvSpPr>
          <p:cNvPr id="17" name="TextBox 16"/>
          <p:cNvSpPr txBox="1"/>
          <p:nvPr/>
        </p:nvSpPr>
        <p:spPr>
          <a:xfrm>
            <a:off x="1152144" y="5202936"/>
            <a:ext cx="10195559" cy="640080"/>
          </a:xfrm>
          <a:prstGeom prst="rect">
            <a:avLst/>
          </a:prstGeom>
          <a:noFill/>
          <a:effectLst/>
        </p:spPr>
        <p:txBody>
          <a:bodyPr wrap="square" lIns="0" tIns="0" rIns="0" bIns="0" anchor="t">
            <a:spAutoFit/>
          </a:bodyPr>
          <a:lstStyle/>
          <a:p>
            <a:pPr algn="l">
              <a:lnSpc>
                <a:spcPct val="112000"/>
              </a:lnSpc>
              <a:spcBef>
                <a:spcPts val="0"/>
              </a:spcBef>
              <a:spcAft>
                <a:spcPts val="0"/>
              </a:spcAft>
              <a:defRPr sz="2200" b="0">
                <a:solidFill>
                  <a:srgbClr val="000000"/>
                </a:solidFill>
                <a:latin typeface="Times New Roman"/>
              </a:defRPr>
            </a:pPr>
            <a:r>
              <a:t>Analytics Dashboard</a:t>
            </a:r>
          </a:p>
        </p:txBody>
      </p:sp>
      <p:sp>
        <p:nvSpPr>
          <p:cNvPr id="18" name="TextBox 17"/>
          <p:cNvSpPr txBox="1"/>
          <p:nvPr/>
        </p:nvSpPr>
        <p:spPr>
          <a:xfrm>
            <a:off x="1929384" y="5797296"/>
            <a:ext cx="8348472" cy="502920"/>
          </a:xfrm>
          <a:prstGeom prst="rect">
            <a:avLst/>
          </a:prstGeom>
          <a:noFill/>
          <a:effectLst/>
        </p:spPr>
        <p:txBody>
          <a:bodyPr wrap="square" lIns="0" tIns="0" rIns="0" bIns="0" anchor="t">
            <a:spAutoFit/>
          </a:bodyPr>
          <a:lstStyle/>
          <a:p>
            <a:pPr algn="ctr">
              <a:lnSpc>
                <a:spcPct val="112000"/>
              </a:lnSpc>
              <a:spcBef>
                <a:spcPts val="0"/>
              </a:spcBef>
              <a:spcAft>
                <a:spcPts val="0"/>
              </a:spcAft>
              <a:defRPr sz="3200" b="0">
                <a:solidFill>
                  <a:srgbClr val="000000"/>
                </a:solidFill>
                <a:latin typeface="Times New Roman"/>
              </a:defRPr>
            </a:pPr>
            <a:r>
              <a:t>THANK YOU</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3060</Words>
  <Application>Microsoft Office PowerPoint</Application>
  <PresentationFormat>Widescreen</PresentationFormat>
  <Paragraphs>318</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AniResQ – A Community-Driven Animal Rescue &amp; Adoption Network</dc:title>
  <dc:subject>Review-I | University reference format</dc:subject>
  <dc:creator>Vigneshwar M; Judson Pushparaj C; Venu Madhav S; Karthikraja K</dc:creator>
  <cp:keywords>AniResQ, animal rescue, adoption, Review-I, FastAPI, React, Firebase</cp:keywords>
  <dc:description>Restyled to match the supplied academic reference. Fourteen slides; certification placeholders; progress supplied by the team.</dc:description>
  <cp:lastModifiedBy>TN Vicky</cp:lastModifiedBy>
  <cp:revision>26</cp:revision>
  <dcterms:created xsi:type="dcterms:W3CDTF">2013-01-27T09:14:16Z</dcterms:created>
  <dcterms:modified xsi:type="dcterms:W3CDTF">2026-10-07T17:12:33Z</dcterms:modified>
  <cp:category/>
</cp:coreProperties>
</file>